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8" r:id="rId6"/>
    <p:sldId id="260" r:id="rId7"/>
    <p:sldId id="269" r:id="rId8"/>
    <p:sldId id="273" r:id="rId9"/>
    <p:sldId id="261" r:id="rId10"/>
    <p:sldId id="262" r:id="rId11"/>
    <p:sldId id="263" r:id="rId12"/>
    <p:sldId id="264" r:id="rId13"/>
    <p:sldId id="272" r:id="rId14"/>
    <p:sldId id="265" r:id="rId15"/>
    <p:sldId id="271" r:id="rId16"/>
    <p:sldId id="266"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1F5D"/>
    <a:srgbClr val="E20F98"/>
    <a:srgbClr val="093087"/>
    <a:srgbClr val="F119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56"/>
    <p:restoredTop sz="74960"/>
  </p:normalViewPr>
  <p:slideViewPr>
    <p:cSldViewPr snapToGrid="0" snapToObjects="1">
      <p:cViewPr>
        <p:scale>
          <a:sx n="150" d="100"/>
          <a:sy n="150" d="100"/>
        </p:scale>
        <p:origin x="7416" y="1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349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raphql.org/#:~:text=in%20a%20single%20request"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developer.paypal.com/braintree/graphql/guides/making_api_calls/#:~:text=A%20response%20from%20the%20GraphQL,extensions"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eveloper.paypal.com/braintree/graphql/guides/making_api_calls/#:~:text=All%20requests%20,to%20a%20single%20HTTP%20endpoint" TargetMode="External"/><Relationship Id="rId7" Type="http://schemas.openxmlformats.org/officeDocument/2006/relationships/hyperlink" Target="https://developer.paypal.com/braintree/graphql/guides/making_api_calls/#:~:text=Your%20First%20Request"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developer.paypal.com/braintree/graphql/guides/making_api_calls/#:~:text=The%20Message%20Body" TargetMode="External"/><Relationship Id="rId5" Type="http://schemas.openxmlformats.org/officeDocument/2006/relationships/hyperlink" Target="https://developer.paypal.com/braintree/graphql/guides/making_api_calls/#:~:text=The%20Braintree" TargetMode="External"/><Relationship Id="rId4" Type="http://schemas.openxmlformats.org/officeDocument/2006/relationships/hyperlink" Target="https://developer.paypal.com/braintree/graphql/guides/making_api_calls/#:~:text=Request%20Requirement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eveloper.paypal.com/braintree/docs/guides/authorization/tokenization-key/javascript/v3/#:~:text=Obtaining%20a%20tokenization%20key,AnchorIco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eveloper.paypal.com/braintree/graphql/guides/making_api_calls/#a-more-interesting-request#:~:text=Endpoint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developer.paypal.com/braintree/graphql/guides/making_api_calls/#a-more-interesting-request#:~:text=Using%20GraphiQL" TargetMode="External"/><Relationship Id="rId4" Type="http://schemas.openxmlformats.org/officeDocument/2006/relationships/hyperlink" Target="https://developer.paypal.com/braintree/graphql/guides/making_api_calls/#a-more-interesting-request#:~:text=Two%20Mutations%20In%20One%20Call,13%3A%20AnchorIcon"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veloper.paypal.com/braintree/graphql/guides/making_api_calls/#:~:text=Two%20Mutations%20In%20One%20Call,13%3A%20AnchorIcon"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eveloper.paypal.com/braintree/graphql/guides/#:~:text=Schema%20and%20Type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eveloper.paypal.com/braintree/graphql/guides/concepts/#:~:text=A%20,account%2C%20or%20a%20bank%20account"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developer.paypal.com/braintree/graphql/guides/#:~:text=Schema%20and%20Type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developer.paypal.com/braintree/graphql/guides/making_api_calls/#a-more-interesting-request#:~:text=Extensions" TargetMode="External"/><Relationship Id="rId3" Type="http://schemas.openxmlformats.org/officeDocument/2006/relationships/hyperlink" Target="https://developer.paypal.com/braintree/graphql/guides/making_api_calls/#a-more-interesting-request#:~:text=Understanding%20Responses" TargetMode="External"/><Relationship Id="rId7" Type="http://schemas.openxmlformats.org/officeDocument/2006/relationships/hyperlink" Target="https://developer.paypal.com/braintree/graphql/guides/making_api_calls/#a-more-interesting-request#:~:text=Errors%20can%20manifest%20as%20GraphQL,or%20errors%20reflecting%20upstream%20issues"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developer.paypal.com/braintree/graphql/guides/making_api_calls/#a-more-interesting-request#:~:text=An%20element%20of%20the%20,will%20have%20the%20following%20values" TargetMode="External"/><Relationship Id="rId5" Type="http://schemas.openxmlformats.org/officeDocument/2006/relationships/hyperlink" Target="https://developer.paypal.com/braintree/graphql/guides/making_api_calls/#a-more-interesting-request#:~:text=,%5D%20%7D" TargetMode="External"/><Relationship Id="rId4" Type="http://schemas.openxmlformats.org/officeDocument/2006/relationships/hyperlink" Target="https://developer.paypal.com/braintree/graphql/guides/making_api_calls/#a-more-interesting-request#:~:text=A%20successful%20query%20MUST%20return,those%20specified%20in%20the%20query" TargetMode="External"/><Relationship Id="rId9" Type="http://schemas.openxmlformats.org/officeDocument/2006/relationships/hyperlink" Target="https://developer.paypal.com/braintree/graphql/guides/making_api_calls/#a-more-interesting-request#:~:text=Timeouts"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eveloper.paypal.com/braintree/graphql/guides/making_api_calls/#a-more-interesting-request#:~:text=Two%20Mutations%20In%20One%20Call,13%3A%20AnchorIcon"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graphql.org/#:~:text=in%20a%20single%20request"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developer.paypal.com/braintree/graphql/guides/#:~:text=Schema%20and%20Types"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eveloper.paypal.com/braintree/graphql/guides/making_api_calls/#a-more-interesting-request#:~:text=Understanding%20Respons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Welcome to the presentation on Braintree </a:t>
            </a:r>
            <a:r>
              <a:rPr lang="en-US" sz="1200" b="0" kern="1200" dirty="0" err="1">
                <a:solidFill>
                  <a:schemeClr val="tx1"/>
                </a:solidFill>
                <a:effectLst/>
                <a:latin typeface="+mn-lt"/>
                <a:ea typeface="+mn-ea"/>
                <a:cs typeface="+mn-cs"/>
              </a:rPr>
              <a:t>GraphQL</a:t>
            </a:r>
            <a:r>
              <a:rPr lang="en-US" sz="1200" b="0" kern="1200" dirty="0">
                <a:solidFill>
                  <a:schemeClr val="tx1"/>
                </a:solidFill>
                <a:effectLst/>
                <a:latin typeface="+mn-lt"/>
                <a:ea typeface="+mn-ea"/>
                <a:cs typeface="+mn-cs"/>
              </a:rPr>
              <a:t>. I'm Jasmyn Kelly, and I'll be guiding you through why and how Braintree leverages </a:t>
            </a:r>
            <a:r>
              <a:rPr lang="en-US" sz="1200" b="0" kern="1200" dirty="0" err="1">
                <a:solidFill>
                  <a:schemeClr val="tx1"/>
                </a:solidFill>
                <a:effectLst/>
                <a:latin typeface="+mn-lt"/>
                <a:ea typeface="+mn-ea"/>
                <a:cs typeface="+mn-cs"/>
              </a:rPr>
              <a:t>GraphQL</a:t>
            </a:r>
            <a:r>
              <a:rPr lang="en-US" sz="1200" b="0" kern="1200" dirty="0">
                <a:solidFill>
                  <a:schemeClr val="tx1"/>
                </a:solidFill>
                <a:effectLst/>
                <a:latin typeface="+mn-lt"/>
                <a:ea typeface="+mn-ea"/>
                <a:cs typeface="+mn-cs"/>
              </a:rPr>
              <a:t> to power its payment API. </a:t>
            </a:r>
          </a:p>
          <a:p>
            <a:r>
              <a:rPr lang="en-US" sz="1200" b="0" kern="1200" dirty="0">
                <a:solidFill>
                  <a:schemeClr val="tx1"/>
                </a:solidFill>
                <a:effectLst/>
                <a:latin typeface="+mn-lt"/>
                <a:ea typeface="+mn-ea"/>
                <a:cs typeface="+mn-cs"/>
              </a:rPr>
              <a:t>We'll explore the core concepts, advantages over REST, how to perform multiple operations in a single call, and the tools available to build reliable payment integrations.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First I'll give a high‑level overview of Braintree GraphQL and our motivations for using it. We'll discuss why GraphQL offers advantages over REST. Then I'll demonstrate how GraphQL lets us execute multiple mutations in a single request. We'll go over key features of the API and its schema, walk through query examples, cover mutations and subscriptions, and finish with a conclusion and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br>
              <a:rPr lang="en-US" sz="1200" b="0" kern="1200" dirty="0">
                <a:solidFill>
                  <a:schemeClr val="tx1"/>
                </a:solidFill>
                <a:effectLst/>
                <a:latin typeface="+mn-lt"/>
                <a:ea typeface="+mn-ea"/>
                <a:cs typeface="+mn-cs"/>
              </a:rPr>
            </a:br>
            <a:r>
              <a:rPr lang="en-US" sz="1200" b="0" kern="1200" dirty="0" err="1">
                <a:solidFill>
                  <a:schemeClr val="tx1"/>
                </a:solidFill>
                <a:effectLst/>
                <a:latin typeface="+mn-lt"/>
                <a:ea typeface="+mn-ea"/>
                <a:cs typeface="+mn-cs"/>
              </a:rPr>
              <a:t>GraphQL</a:t>
            </a:r>
            <a:r>
              <a:rPr lang="en-US" sz="1200" b="0" kern="1200" dirty="0">
                <a:solidFill>
                  <a:schemeClr val="tx1"/>
                </a:solidFill>
                <a:effectLst/>
                <a:latin typeface="+mn-lt"/>
                <a:ea typeface="+mn-ea"/>
                <a:cs typeface="+mn-cs"/>
              </a:rPr>
              <a:t> uses a single endpoint and models operations as queries to fetch data and mutations to modify data, similar to GET and POST in REST. </a:t>
            </a:r>
          </a:p>
          <a:p>
            <a:br>
              <a:rPr lang="en-US" sz="1200" b="0" kern="1200" dirty="0">
                <a:solidFill>
                  <a:schemeClr val="tx1"/>
                </a:solidFill>
                <a:effectLst/>
                <a:latin typeface="+mn-lt"/>
                <a:ea typeface="+mn-ea"/>
                <a:cs typeface="+mn-cs"/>
              </a:rPr>
            </a:b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Every call (??) is described in a strongly typed schema </a:t>
            </a:r>
          </a:p>
          <a:p>
            <a:r>
              <a:rPr lang="en-US" sz="1200" b="0" kern="1200" dirty="0">
                <a:solidFill>
                  <a:schemeClr val="tx1"/>
                </a:solidFill>
                <a:effectLst/>
                <a:latin typeface="+mn-lt"/>
                <a:ea typeface="+mn-ea"/>
                <a:cs typeface="+mn-cs"/>
              </a:rPr>
              <a:t>so you always know what queries and mutations are available and what they return. </a:t>
            </a:r>
          </a:p>
          <a:p>
            <a:r>
              <a:rPr lang="en-US" sz="1200" b="0" kern="1200" dirty="0">
                <a:solidFill>
                  <a:schemeClr val="tx1"/>
                </a:solidFill>
                <a:effectLst/>
                <a:latin typeface="+mn-lt"/>
                <a:ea typeface="+mn-ea"/>
                <a:cs typeface="+mn-cs"/>
              </a:rPr>
              <a:t>Since the schema is part of the API itself, you can introspect it at runtime,</a:t>
            </a:r>
          </a:p>
          <a:p>
            <a:r>
              <a:rPr lang="en-US" sz="1200" b="0" kern="1200" dirty="0">
                <a:solidFill>
                  <a:schemeClr val="tx1"/>
                </a:solidFill>
                <a:effectLst/>
                <a:latin typeface="+mn-lt"/>
                <a:ea typeface="+mn-ea"/>
                <a:cs typeface="+mn-cs"/>
              </a:rPr>
              <a:t>- introspection allows you to create query to tell you about the schema</a:t>
            </a:r>
          </a:p>
          <a:p>
            <a:r>
              <a:rPr lang="en-US" sz="1200" b="0" kern="1200" dirty="0">
                <a:solidFill>
                  <a:schemeClr val="tx1"/>
                </a:solidFill>
                <a:effectLst/>
                <a:latin typeface="+mn-lt"/>
                <a:ea typeface="+mn-ea"/>
                <a:cs typeface="+mn-cs"/>
              </a:rPr>
              <a:t>The schema defines all available types and you can introspect it at runtime. </a:t>
            </a:r>
          </a:p>
          <a:p>
            <a:r>
              <a:rPr lang="en-US" sz="1200" b="0" kern="1200" dirty="0">
                <a:solidFill>
                  <a:schemeClr val="tx1"/>
                </a:solidFill>
                <a:effectLst/>
                <a:latin typeface="+mn-lt"/>
                <a:ea typeface="+mn-ea"/>
                <a:cs typeface="+mn-cs"/>
              </a:rPr>
              <a:t>This makes the payment API both self‑documenting and flexible.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On this slide I compare traditional REST calls with GraphQL. In REST, retrieving an order, its items and customer details typically requires multiple requests. GraphQL lets you fetch all that data in a single request by specifying the fields you need</a:t>
            </a:r>
            <a:r>
              <a:rPr u="sng" dirty="0">
                <a:solidFill>
                  <a:schemeClr val="accent6"/>
                </a:solidFill>
                <a:hlinkClick r:id="rId3"/>
              </a:rPr>
              <a:t>(graphql.org)</a:t>
            </a:r>
            <a:r>
              <a:rPr dirty="0"/>
              <a:t>. This reduces network latency and prevents over‑ or under‑fetching of data. </a:t>
            </a:r>
            <a:r>
              <a:rPr dirty="0" err="1"/>
              <a:t>GraphQL</a:t>
            </a:r>
            <a:r>
              <a:rPr dirty="0"/>
              <a:t> always returns an HTTP 200 status code and includes data and error details together</a:t>
            </a:r>
            <a:r>
              <a:rPr u="sng" dirty="0">
                <a:solidFill>
                  <a:schemeClr val="accent6"/>
                </a:solidFill>
                <a:hlinkClick r:id="rId4"/>
              </a:rPr>
              <a:t>(developer.paypal.com)</a:t>
            </a:r>
            <a:r>
              <a:rPr dirty="0"/>
              <a:t>, providing a consistent response structure. The result is a more efficient client and a cleaner, unified API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Walk through the lifecycle of a typical Braintree transaction. First your server requests a client token from Braintree. The client SDK uses this token to collect payment details, such as card numbers or PayPal accounts, and returns a single‑use payment method (nonce). Your server then calls the GraphQL API either to vault the payment method for future use or to immediately charge it. Vaulting converts the single‑use nonce into a multi‑use payment method stored in Braintree’s Vault, which never expires. When you charge a method, the API creates a Transaction object representing the movement of money from your customer to you, and the transaction’s status updates through the payment lifecycle. Mention that payment methods cover credit cards, PayPal, Venmo and other accounts with their own detail fields, and that optional Customer objects group payment methods and transactions but cannot be shared between customers.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Getting started with Braintree GraphQL requires a few key steps. First, send your POST requests to a single /graphql endpoint. For sandbox testing use https://payments.sandbox.braintree-api.com/graphql and switch to https://payments.braintree-api.com/graphql in production</a:t>
            </a:r>
            <a:r>
              <a:rPr u="sng" dirty="0">
                <a:solidFill>
                  <a:schemeClr val="accent6"/>
                </a:solidFill>
                <a:hlinkClick r:id="rId3"/>
              </a:rPr>
              <a:t>(developer.paypal.com)</a:t>
            </a:r>
            <a:r>
              <a:rPr dirty="0"/>
              <a:t>. A registered Braintree account is required, and you must supply an Authorization header with credentials such as an API key, tokenization key or client token depending on the operation</a:t>
            </a:r>
            <a:r>
              <a:rPr u="sng" dirty="0">
                <a:solidFill>
                  <a:schemeClr val="accent6"/>
                </a:solidFill>
                <a:hlinkClick r:id="rId4"/>
              </a:rPr>
              <a:t>(developer.paypal.com)</a:t>
            </a:r>
            <a:r>
              <a:rPr dirty="0"/>
              <a:t>. Include the Braintree-Version header to specify the API version and set Content-Type to application/</a:t>
            </a:r>
            <a:r>
              <a:rPr dirty="0" err="1"/>
              <a:t>json</a:t>
            </a:r>
            <a:r>
              <a:rPr u="sng" dirty="0">
                <a:solidFill>
                  <a:schemeClr val="accent6"/>
                </a:solidFill>
                <a:hlinkClick r:id="rId5"/>
              </a:rPr>
              <a:t>(developer.paypal.com)</a:t>
            </a:r>
            <a:r>
              <a:rPr dirty="0"/>
              <a:t>. The request body must be a JSON object containing a "query" string and optionally a "variables" object</a:t>
            </a:r>
            <a:r>
              <a:rPr u="sng" dirty="0">
                <a:solidFill>
                  <a:schemeClr val="accent6"/>
                </a:solidFill>
                <a:hlinkClick r:id="rId6"/>
              </a:rPr>
              <a:t>(developer.paypal.com)</a:t>
            </a:r>
            <a:r>
              <a:rPr dirty="0"/>
              <a:t>. To verify your setup, you can send a simple ping query. The response will return "pong", confirming that your credentials and headers are correct</a:t>
            </a:r>
            <a:r>
              <a:rPr u="sng" dirty="0">
                <a:solidFill>
                  <a:schemeClr val="accent6"/>
                </a:solidFill>
                <a:hlinkClick r:id="rId7"/>
              </a:rPr>
              <a:t>(developer.paypal.com)</a:t>
            </a:r>
            <a:r>
              <a:rP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Describe the four ways to authenticate requests. API Keys are generated in the Braintree Control Panel; you base64 encode “public:private” and send it in the Authorization header as Basic auth. Tokenization keys are reduced‑privilege publishable values for client tokenization; log into the Control Panel, navigate to the API section and scroll to Tokenization Keys to generate one if needed</a:t>
            </a:r>
            <a:r>
              <a:rPr u="sng" dirty="0">
                <a:solidFill>
                  <a:schemeClr val="accent6"/>
                </a:solidFill>
                <a:hlinkClick r:id="rId3"/>
              </a:rPr>
              <a:t>(developer.paypal.com)</a:t>
            </a:r>
            <a:r>
              <a:rPr dirty="0"/>
              <a:t>. Authorization fingerprints live inside client tokens (JWTs); decode the token to get the fingerprint and include it as a Bearer token. Access tokens are part of the Braintree Auth beta for third‑party apps; after an OAuth flow you send the access token as a Bearer token. Remind developers to include a Braintree‑Version header and Content‑Type: application/</a:t>
            </a:r>
            <a:r>
              <a:rPr dirty="0" err="1"/>
              <a:t>json</a:t>
            </a:r>
            <a:r>
              <a:rPr dirty="0"/>
              <a:t> in every </a:t>
            </a:r>
            <a:r>
              <a:rPr dirty="0" err="1"/>
              <a:t>GraphQL</a:t>
            </a:r>
            <a:r>
              <a:rPr dirty="0"/>
              <a:t> request, and note that the API always uses POST regardless of the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Explain how to construct an HTTP request to the Braintree GraphQL endpoint. All requests, both queries and mutations, are POSTed to a single endpoint—use the sandbox for testing and switch to production when going live</a:t>
            </a:r>
            <a:r>
              <a:rPr u="sng">
                <a:solidFill>
                  <a:schemeClr val="accent6"/>
                </a:solidFill>
                <a:hlinkClick r:id="rId3"/>
              </a:rPr>
              <a:t>(developer.paypal.com)</a:t>
            </a:r>
            <a:r>
              <a:t>. Include the Authorization header appropriate for your credential, the Braintree‑Version header with the date you began integrating, and set the Content‑Type to application/json. The request body is a JSON object with a "query" string and, if variables are used, a "variables" JSON object. Show a simple ping query and a chargePaymentMethod mutation. Remind developers to escape newlines in JSON strings and that GraphQL variables must match the schema types. Point out that you can use GraphQL aliases to call the same mutation multiple times in one request</a:t>
            </a:r>
            <a:r>
              <a:rPr u="sng">
                <a:solidFill>
                  <a:schemeClr val="accent6"/>
                </a:solidFill>
                <a:hlinkClick r:id="rId4"/>
              </a:rPr>
              <a:t>(developer.paypal.com)</a:t>
            </a:r>
            <a:r>
              <a:t>. Finally, promote the API Explorer/GraphiQL tool integrated into the docs—log in with sandbox credentials to explore the schema, build queries, and run mutations interactively</a:t>
            </a:r>
            <a:r>
              <a:rPr u="sng">
                <a:solidFill>
                  <a:schemeClr val="accent6"/>
                </a:solidFill>
                <a:hlinkClick r:id="rId5"/>
              </a:rPr>
              <a:t>(developer.paypal.com)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GraphQL also lets us group multiple operations into one request. Here I'm showing an example from the Braintree docs that charges two payment methods in one call</a:t>
            </a:r>
            <a:r>
              <a:rPr u="sng" dirty="0">
                <a:solidFill>
                  <a:schemeClr val="accent6"/>
                </a:solidFill>
                <a:hlinkClick r:id="rId3"/>
              </a:rPr>
              <a:t>(developer.paypal.com)</a:t>
            </a:r>
            <a:r>
              <a:rPr dirty="0"/>
              <a:t>. We use aliases – "</a:t>
            </a:r>
            <a:r>
              <a:rPr dirty="0" err="1"/>
              <a:t>firstTransaction</a:t>
            </a:r>
            <a:r>
              <a:rPr dirty="0"/>
              <a:t>" and "</a:t>
            </a:r>
            <a:r>
              <a:rPr dirty="0" err="1"/>
              <a:t>secondTransaction</a:t>
            </a:r>
            <a:r>
              <a:rPr dirty="0"/>
              <a:t>" – to distinguish the results. Each alias executes the same mutation with different input variables. This single HTTP POST triggers both transactions and returns both results together. Compare this to REST, where you'd need two separate HTTP calls and potentially handle partial success manually. </a:t>
            </a:r>
            <a:r>
              <a:rPr dirty="0" err="1"/>
              <a:t>GraphQL</a:t>
            </a:r>
            <a:r>
              <a:rPr dirty="0"/>
              <a:t> streamlines complex workflows into concise, predictable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slide highlights the high‑level benefits of Braintree's GraphQL API. First, there's a single endpoint for all operations, which simplifies your integration. Second, queries are precise: you request exactly the fields you need and nothing more. That reduces payload sizes and speeds up your application. Finally, the API is strongly typed, and introspection combined with tools like GraphiQL provides a great developer experience. You can explore the schema, build queries interactively, and rely on type safety when integrating with your payment systems</a:t>
            </a:r>
            <a:r>
              <a:rPr u="sng" dirty="0">
                <a:solidFill>
                  <a:schemeClr val="accent6"/>
                </a:solidFill>
                <a:hlinkClick r:id="rId3"/>
              </a:rPr>
              <a:t>(developer.paypal.com)</a:t>
            </a:r>
            <a:r>
              <a:rP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 API’s schema organizes data around a root "Query" type. From the query root you can fetch objects like customers, payment methods and transactions. Each type exposes fields for the relevant information – for example, the PaymentMethod type includes details like expiration date, account email, or Venmo username</a:t>
            </a:r>
            <a:r>
              <a:rPr u="sng" dirty="0">
                <a:solidFill>
                  <a:schemeClr val="accent6"/>
                </a:solidFill>
                <a:hlinkClick r:id="rId3"/>
              </a:rPr>
              <a:t>(developer.paypal.com)</a:t>
            </a:r>
            <a:r>
              <a:rPr dirty="0"/>
              <a:t>. Because everything is strongly typed, the schema itself serves as your documentation. Tools like introspection queries or the API Explorer can show you available fields at any time</a:t>
            </a:r>
            <a:r>
              <a:rPr u="sng" dirty="0">
                <a:solidFill>
                  <a:schemeClr val="accent6"/>
                </a:solidFill>
                <a:hlinkClick r:id="rId4"/>
              </a:rPr>
              <a:t>(developer.paypal.com)</a:t>
            </a:r>
            <a:r>
              <a:rPr dirty="0"/>
              <a:t>. This diagram is a simplified representation of those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To illustrate how concise queries can be, here's a request that fetches a customer and their three most recent transactions. Notice how the query nests fields: we ask for the customer's id and name, then within transactions we request the id, amount and status. GraphQL returns exactly this data structure. On the right, I've called out the key parts of the query. With GraphQL, it's easy to traverse relationships and assemble complex data in one round trip.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Explain how GraphQL responses are structured. Regardless of success or failure, the API always returns an HTTP 200 status and a JSON body with up to three top‑level keys: data, errors and extensions</a:t>
            </a:r>
            <a:r>
              <a:rPr u="sng">
                <a:solidFill>
                  <a:schemeClr val="accent6"/>
                </a:solidFill>
                <a:hlinkClick r:id="rId3"/>
              </a:rPr>
              <a:t>(developer.paypal.com)</a:t>
            </a:r>
            <a:r>
              <a:t>. The data object mirrors the shape of your query and contains the results when successful</a:t>
            </a:r>
            <a:r>
              <a:rPr u="sng">
                <a:solidFill>
                  <a:schemeClr val="accent6"/>
                </a:solidFill>
                <a:hlinkClick r:id="rId4"/>
              </a:rPr>
              <a:t>(developer.paypal.com)</a:t>
            </a:r>
            <a:r>
              <a:t>. RESTful status codes are not used; instead, any issues are expressed in an errors array. Each error contains a human‑readable message, the locations and path where the error occurred, and an extensions object with additional metadata such as errorClass and legacyCode</a:t>
            </a:r>
            <a:r>
              <a:rPr u="sng">
                <a:solidFill>
                  <a:schemeClr val="accent6"/>
                </a:solidFill>
                <a:hlinkClick r:id="rId5"/>
              </a:rPr>
              <a:t>(developer.paypal.com)</a:t>
            </a:r>
            <a:r>
              <a:rPr u="sng">
                <a:solidFill>
                  <a:schemeClr val="accent6"/>
                </a:solidFill>
                <a:hlinkClick r:id="rId6"/>
              </a:rPr>
              <a:t>(developer.paypal.com)</a:t>
            </a:r>
            <a:r>
              <a:t>. Calls can have partial success where some fields return null and corresponding entries appear in the errors array</a:t>
            </a:r>
            <a:r>
              <a:rPr u="sng">
                <a:solidFill>
                  <a:schemeClr val="accent6"/>
                </a:solidFill>
                <a:hlinkClick r:id="rId7"/>
              </a:rPr>
              <a:t>(developer.paypal.com)</a:t>
            </a:r>
            <a:r>
              <a:t>. The extensions object always includes a requestId to help Braintree support troubleshoot requests</a:t>
            </a:r>
            <a:r>
              <a:rPr u="sng">
                <a:solidFill>
                  <a:schemeClr val="accent6"/>
                </a:solidFill>
                <a:hlinkClick r:id="rId8"/>
              </a:rPr>
              <a:t>(developer.paypal.com)</a:t>
            </a:r>
            <a:r>
              <a:t>. Finally, discuss timeouts: transaction requests may take up to 60 seconds; if your client times out earlier, the customer may be charged even though you did not receive a response</a:t>
            </a:r>
            <a:r>
              <a:rPr u="sng">
                <a:solidFill>
                  <a:schemeClr val="accent6"/>
                </a:solidFill>
                <a:hlinkClick r:id="rId9"/>
              </a:rPr>
              <a:t>(developer.paypal.com)</a:t>
            </a:r>
            <a:r>
              <a:t>. Encourage logging the requestId and handling errors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Mutations are the GraphQL way to make changes. In Braintree, common mutations include charging or authorizing a payment method and vaulting or updating payment details. Each mutation takes a specific input type and returns a well‑defined payload. Subscriptions are part of the GraphQL spec for real‑time events. While our API is focused on queries and mutations today, the concept illustrates that GraphQL can deliver push notifications when events occur – for example, listening to a transaction status change. Although not currently supported, it's useful to understand the pattern and how GraphQL could handle live updates.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Discuss the advanced capabilities of the GraphQL API. Demonstrate how to run an introspection query (e.g. __schema) to discover the schema and confirm available types and fields; this schema is always current. Highlight that Braintree's GraphQL API implements the Relay specification, which provides node lookup, cursor‑based pagination and connections for efficient traversals. Explain aliasing—assigning different names to the same mutation in a single request—allowing you to charge multiple payment methods in one call</a:t>
            </a:r>
            <a:r>
              <a:rPr u="sng">
                <a:solidFill>
                  <a:schemeClr val="accent6"/>
                </a:solidFill>
                <a:hlinkClick r:id="rId3"/>
              </a:rPr>
              <a:t>(developer.paypal.com)</a:t>
            </a:r>
            <a:r>
              <a:t>. Mention request batching for grouping unrelated operations. Encourage developers to take advantage of the sandbox environment, API Explorer and test payment methods to safely experiment with the API before going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In summary, GraphQL lets us reduce network calls by combining multiple requests into one</a:t>
            </a:r>
            <a:r>
              <a:rPr u="sng">
                <a:solidFill>
                  <a:schemeClr val="accent6"/>
                </a:solidFill>
                <a:hlinkClick r:id="rId3"/>
              </a:rPr>
              <a:t>(graphql.org)</a:t>
            </a:r>
            <a:r>
              <a:t>. Braintree's implementation provides a single endpoint and a strongly typed schema</a:t>
            </a:r>
            <a:r>
              <a:rPr u="sng">
                <a:solidFill>
                  <a:schemeClr val="accent6"/>
                </a:solidFill>
                <a:hlinkClick r:id="rId4"/>
              </a:rPr>
              <a:t>(developer.paypal.com)</a:t>
            </a:r>
            <a:r>
              <a:t>. This results in an efficient, discoverable and developer‑friendly payment API. As next steps, I encourage you to explore the API Explorer in your sandbox, examine the schema for the operations you care about, and start building your own queries and mutations. Thank you for your attention,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Wrap up the presentation by summarising the main points. GraphQL gives developers a flexible way to interact with Braintree: one endpoint, typed operations, exact field selection and the ability to batch multiple operations. Braintree models payments using payment methods, customers, vault and transactions; understanding these domain concepts is key to designing integrations. Emphasise the importance of choosing the correct authentication mechanism and including the required headers. Encourage robust client implementations that handle both successful responses and errors gracefully; remember that all responses return HTTP 200 and may contain data and errors</a:t>
            </a:r>
            <a:r>
              <a:rPr u="sng">
                <a:solidFill>
                  <a:schemeClr val="accent6"/>
                </a:solidFill>
                <a:hlinkClick r:id="rId3"/>
              </a:rPr>
              <a:t>(developer.paypal.com)</a:t>
            </a:r>
            <a:r>
              <a:t>. Finally, invite developers to explore the sandbox environment, API Explorer and introspection queries to deepen their understanding and iterate on their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unsplash.com/photos/a-black-and-white-photo-of-circles-and-lines-Quk0CFhi_gU#:~:text=Download%20this%20free%20HD%20photo,mariolagr" TargetMode="External"/><Relationship Id="rId4" Type="http://schemas.openxmlformats.org/officeDocument/2006/relationships/hyperlink" Target="https://graphql.org/#:~:text=GraphQL%20is%20a%20query%20language,and%20enables%20powerful%20developer%20tool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unsplash.com/photos/a-black-and-white-photo-of-circles-and-lines-Quk0CFhi_gU#:~:text=Download%20this%20free%20HD%20photo,mariolagr" TargetMode="External"/><Relationship Id="rId4" Type="http://schemas.openxmlformats.org/officeDocument/2006/relationships/hyperlink" Target="https://graphql.org/#:~:text=GraphQL%20is%20a%20query%20language,and%20enables%20powerful%20developer%20tool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unsplash.com/photos/a-black-and-white-photo-of-circles-and-lines-Quk0CFhi_gU#:~:text=Download%20this%20free%20HD%20photo,mariolagr" TargetMode="External"/><Relationship Id="rId5" Type="http://schemas.openxmlformats.org/officeDocument/2006/relationships/hyperlink" Target="https://developer.paypal.com/braintree/graphql/guides/#:~:text=Schema%20and%20Types" TargetMode="External"/><Relationship Id="rId4" Type="http://schemas.openxmlformats.org/officeDocument/2006/relationships/hyperlink" Target="https://developer.paypal.com/braintree/graphql/guides/#:~:text=GraphQL%20requests%20come%20in%20two,and%20mutations%20can%20take%20input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unsplash.com/photos/a-black-and-white-photo-of-circles-and-lines-Quk0CFhi_gU#:~:text=Download%20this%20free%20HD%20photo,mariolagr" TargetMode="External"/><Relationship Id="rId5" Type="http://schemas.openxmlformats.org/officeDocument/2006/relationships/hyperlink" Target="https://developer.paypal.com/braintree/graphql/guides/making_api_calls/#:~:text=A%20response%20from%20the%20GraphQL,extensions" TargetMode="External"/><Relationship Id="rId4" Type="http://schemas.openxmlformats.org/officeDocument/2006/relationships/hyperlink" Target="https://graphql.org/#:~:text=in%20a%20single%20request"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12304;325636306215838&#8224;screenshot&#12305;" TargetMode="External"/><Relationship Id="rId3" Type="http://schemas.openxmlformats.org/officeDocument/2006/relationships/image" Target="../media/image3.png"/><Relationship Id="rId7" Type="http://schemas.openxmlformats.org/officeDocument/2006/relationships/image" Target="../media/image7.svg"/><Relationship Id="rId12" Type="http://schemas.openxmlformats.org/officeDocument/2006/relationships/hyperlink" Target="&#12304;480115443745776&#8224;screenshot&#12305;" TargetMode="External"/><Relationship Id="rId17" Type="http://schemas.openxmlformats.org/officeDocument/2006/relationships/hyperlink" Target="&#12304;896418145097215&#8224;screenshot&#12305;" TargetMode="External"/><Relationship Id="rId2" Type="http://schemas.openxmlformats.org/officeDocument/2006/relationships/notesSlide" Target="../notesSlides/notesSlide5.xml"/><Relationship Id="rId16" Type="http://schemas.openxmlformats.org/officeDocument/2006/relationships/hyperlink" Target="&#12304;150345718516486&#8224;screenshot&#12305;" TargetMode="Externa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hyperlink" Target="&#12304;518177126341671&#8224;screenshot&#12305;" TargetMode="Externa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hyperlink" Target="&#12304;605697969352228&#8224;screenshot&#12305;"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developer.paypal.com/braintree/graphql/guides/making_api_calls/#:~:text=Your%20First%20Request" TargetMode="External"/><Relationship Id="rId3" Type="http://schemas.openxmlformats.org/officeDocument/2006/relationships/image" Target="../media/image1.png"/><Relationship Id="rId7" Type="http://schemas.openxmlformats.org/officeDocument/2006/relationships/hyperlink" Target="https://developer.paypal.com/braintree/graphql/guides/making_api_calls/#:~:text=The%20Message%20Body"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developer.paypal.com/braintree/graphql/guides/making_api_calls/#:~:text=The%20Braintree" TargetMode="External"/><Relationship Id="rId5" Type="http://schemas.openxmlformats.org/officeDocument/2006/relationships/hyperlink" Target="https://developer.paypal.com/braintree/graphql/guides/making_api_calls/#:~:text=Request%20Requirements" TargetMode="External"/><Relationship Id="rId4" Type="http://schemas.openxmlformats.org/officeDocument/2006/relationships/hyperlink" Target="https://developer.paypal.com/braintree/graphql/guides/making_api_calls/#:~:text=All%20requests%20,to%20a%20single%20HTTP%20endpoint" TargetMode="External"/><Relationship Id="rId9" Type="http://schemas.openxmlformats.org/officeDocument/2006/relationships/hyperlink" Target="https://unsplash.com/photos/a-black-and-white-photo-of-circles-and-lines-Quk0CFhi_gU#:~:text=Download%20this%20free%20HD%20photo,mariolagr"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developer.paypal.com/braintree/docs/guides/authorization/tokenization-key/javascript/v3/#:~:text=Obtaining%20a%20tokenization%20key,AnchorIcon" TargetMode="External"/><Relationship Id="rId13" Type="http://schemas.openxmlformats.org/officeDocument/2006/relationships/hyperlink" Target="&#12304;428510058951871&#8224;screenshot&#12305;" TargetMode="External"/><Relationship Id="rId18" Type="http://schemas.openxmlformats.org/officeDocument/2006/relationships/hyperlink" Target="&#12304;608921783049126&#8224;screenshot&#12305;" TargetMode="External"/><Relationship Id="rId3" Type="http://schemas.openxmlformats.org/officeDocument/2006/relationships/image" Target="../media/image12.png"/><Relationship Id="rId7" Type="http://schemas.openxmlformats.org/officeDocument/2006/relationships/image" Target="../media/image14.svg"/><Relationship Id="rId12" Type="http://schemas.openxmlformats.org/officeDocument/2006/relationships/image" Target="../media/image9.svg"/><Relationship Id="rId17" Type="http://schemas.openxmlformats.org/officeDocument/2006/relationships/hyperlink" Target="&#12304;534119928115562&#8224;screenshot&#12305;" TargetMode="External"/><Relationship Id="rId2" Type="http://schemas.openxmlformats.org/officeDocument/2006/relationships/notesSlide" Target="../notesSlides/notesSlide7.xml"/><Relationship Id="rId16" Type="http://schemas.openxmlformats.org/officeDocument/2006/relationships/hyperlink" Target="&#12304;396198585588492&#8224;screenshot&#12305;" TargetMode="Externa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8.png"/><Relationship Id="rId5" Type="http://schemas.openxmlformats.org/officeDocument/2006/relationships/image" Target="../media/image5.svg"/><Relationship Id="rId15" Type="http://schemas.openxmlformats.org/officeDocument/2006/relationships/hyperlink" Target="&#12304;663685599881161&#8224;screenshot&#12305;" TargetMode="External"/><Relationship Id="rId10" Type="http://schemas.openxmlformats.org/officeDocument/2006/relationships/image" Target="../media/image16.svg"/><Relationship Id="rId4" Type="http://schemas.openxmlformats.org/officeDocument/2006/relationships/image" Target="../media/image4.png"/><Relationship Id="rId9" Type="http://schemas.openxmlformats.org/officeDocument/2006/relationships/image" Target="../media/image15.png"/><Relationship Id="rId14" Type="http://schemas.openxmlformats.org/officeDocument/2006/relationships/hyperlink" Target="&#12304;534462899186745&#8224;screenshot&#12305;"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12304;108213133886995&#8224;screenshot&#12305;" TargetMode="External"/><Relationship Id="rId3" Type="http://schemas.openxmlformats.org/officeDocument/2006/relationships/image" Target="../media/image12.png"/><Relationship Id="rId7" Type="http://schemas.openxmlformats.org/officeDocument/2006/relationships/hyperlink" Target="https://developer.paypal.com/braintree/graphql/guides/making_api_calls/#a-more-interesting-request#:~:text=Endpoint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12304;571035017966946&#8224;screenshot&#12305;" TargetMode="External"/><Relationship Id="rId11" Type="http://schemas.openxmlformats.org/officeDocument/2006/relationships/hyperlink" Target="&#12304;576437811568372&#8224;screenshot&#12305;" TargetMode="External"/><Relationship Id="rId5" Type="http://schemas.openxmlformats.org/officeDocument/2006/relationships/hyperlink" Target="https://developer.paypal.com/braintree/graphql/guides/making_api_calls/#a-more-interesting-request#:~:text=Using%20GraphiQL" TargetMode="External"/><Relationship Id="rId10" Type="http://schemas.openxmlformats.org/officeDocument/2006/relationships/hyperlink" Target="&#12304;973992111252375&#8224;screenshot&#12305;" TargetMode="External"/><Relationship Id="rId4" Type="http://schemas.openxmlformats.org/officeDocument/2006/relationships/hyperlink" Target="https://developer.paypal.com/braintree/graphql/guides/making_api_calls/#a-more-interesting-request#:~:text=Two%20Mutations%20In%20One%20Call,13%3A%20AnchorIcon" TargetMode="External"/><Relationship Id="rId9" Type="http://schemas.openxmlformats.org/officeDocument/2006/relationships/hyperlink" Target="&#12304;623571375031762&#8224;screenshot&#12305;"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unsplash.com/photos/a-black-and-white-photo-of-circles-and-lines-Quk0CFhi_gU#:~:text=Download%20this%20free%20HD%20photo,mariolagr" TargetMode="External"/><Relationship Id="rId4" Type="http://schemas.openxmlformats.org/officeDocument/2006/relationships/hyperlink" Target="https://developer.paypal.com/braintree/graphql/guides/making_api_calls/#:~:text=Two%20Mutations%20In%20One%20Call,13%3A%20AnchorIcon"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developer.paypal.com/braintree/graphql/guides/making_api_calls/#:~:text=A%20response%20from%20the%20GraphQL,extensions" TargetMode="External"/><Relationship Id="rId3" Type="http://schemas.openxmlformats.org/officeDocument/2006/relationships/image" Target="../media/image1.png"/><Relationship Id="rId7" Type="http://schemas.openxmlformats.org/officeDocument/2006/relationships/hyperlink" Target="https://developer.paypal.com/braintree/graphql/guides/#:~:text=Schema%20and%20Type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hyperlink" Target="https://unsplash.com/photos/a-black-and-white-photo-of-circles-and-lines-Quk0CFhi_gU#:~:text=Download%20this%20free%20HD%20photo,mariolagr"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developer.paypal.com/braintree/graphql/guides/concepts/#:~:text=A%20,account%2C%20or%20a%20bank%20account" TargetMode="External"/><Relationship Id="rId3" Type="http://schemas.openxmlformats.org/officeDocument/2006/relationships/image" Target="../media/image3.png"/><Relationship Id="rId7" Type="http://schemas.openxmlformats.org/officeDocument/2006/relationships/hyperlink" Target="https://developer.paypal.com/braintree/graphql/guides/#:~:text=Schema%20and%20Type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hyperlink" Target="https://unsplash.com/photos/a-black-and-white-photo-of-circles-and-lines-Quk0CFhi_gU#:~:text=Download%20this%20free%20HD%20photo,mariolagr"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unsplash.com/photos/a-black-and-white-photo-of-circles-and-lines-Quk0CFhi_gU#:~:text=Download%20this%20free%20HD%20photo,mariolagr" TargetMode="External"/><Relationship Id="rId3" Type="http://schemas.openxmlformats.org/officeDocument/2006/relationships/image" Target="../media/image1.png"/><Relationship Id="rId7" Type="http://schemas.openxmlformats.org/officeDocument/2006/relationships/hyperlink" Target="https://developer.paypal.com/braintree/graphql/guides/#:~:text=Schema%20and%20Type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developer.paypal.com/braintree/graphql/guides/#:~:text=GraphQL%20requests%20come%20in%20two,and%20mutations%20can%20take%20inputs"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hyperlink" Target="https://developer.paypal.com/braintree/graphql/guides/making_api_calls/#a-more-interesting-request#:~:text=Extensions" TargetMode="External"/><Relationship Id="rId3" Type="http://schemas.openxmlformats.org/officeDocument/2006/relationships/image" Target="../media/image12.png"/><Relationship Id="rId7" Type="http://schemas.openxmlformats.org/officeDocument/2006/relationships/hyperlink" Target="https://developer.paypal.com/braintree/graphql/guides/making_api_calls/#a-more-interesting-request#:~:text=Unlike%20a%20conventional%20REST%20API%2C,even%20when%20there%20are%20error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developer.paypal.com/braintree/graphql/guides/making_api_calls/#a-more-interesting-request#:~:text=An%20element%20of%20the%20,will%20have%20the%20following%20values" TargetMode="External"/><Relationship Id="rId11" Type="http://schemas.openxmlformats.org/officeDocument/2006/relationships/hyperlink" Target="https://developer.paypal.com/braintree/graphql/guides/making_api_calls/#a-more-interesting-request#:~:text=Errors%20can%20manifest%20as%20GraphQL,or%20errors%20reflecting%20upstream%20issues" TargetMode="External"/><Relationship Id="rId5" Type="http://schemas.openxmlformats.org/officeDocument/2006/relationships/hyperlink" Target="https://developer.paypal.com/braintree/graphql/guides/making_api_calls/#a-more-interesting-request#:~:text=,%5D%20%7D" TargetMode="External"/><Relationship Id="rId10" Type="http://schemas.openxmlformats.org/officeDocument/2006/relationships/hyperlink" Target="https://developer.paypal.com/braintree/graphql/guides/making_api_calls/#a-more-interesting-request#:~:text=Understanding%20Responses" TargetMode="External"/><Relationship Id="rId4" Type="http://schemas.openxmlformats.org/officeDocument/2006/relationships/hyperlink" Target="https://developer.paypal.com/braintree/graphql/guides/making_api_calls/#a-more-interesting-request#:~:text=A%20successful%20query%20MUST%20return,those%20specified%20in%20the%20query" TargetMode="External"/><Relationship Id="rId9" Type="http://schemas.openxmlformats.org/officeDocument/2006/relationships/hyperlink" Target="https://developer.paypal.com/braintree/graphql/guides/making_api_calls/#a-more-interesting-request#:~:text=Timeouts"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unsplash.com/photos/a-black-and-white-photo-of-circles-and-lines-Quk0CFhi_gU#:~:text=Download%20this%20free%20HD%20photo,mariolagr" TargetMode="External"/><Relationship Id="rId3" Type="http://schemas.openxmlformats.org/officeDocument/2006/relationships/image" Target="../media/image3.png"/><Relationship Id="rId7" Type="http://schemas.openxmlformats.org/officeDocument/2006/relationships/hyperlink" Target="https://developer.paypal.com/braintree/graphql/guides/making_api_calls/#:~:text=A%20response%20from%20the%20GraphQL,extensions"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eveloper.paypal.com/braintree/graphql/guides/concepts/#:~:text=Braintree%20offers%20APIs%20and%20SDKs,lifecycle%20looks%20something%20like%20this" TargetMode="External"/><Relationship Id="rId5" Type="http://schemas.openxmlformats.org/officeDocument/2006/relationships/image" Target="../media/image18.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hyperlink" Target="&#12304;591675993056320&#8224;screenshot&#12305;" TargetMode="External"/><Relationship Id="rId3" Type="http://schemas.openxmlformats.org/officeDocument/2006/relationships/image" Target="../media/image12.png"/><Relationship Id="rId7" Type="http://schemas.openxmlformats.org/officeDocument/2006/relationships/image" Target="../media/image29.svg"/><Relationship Id="rId12" Type="http://schemas.openxmlformats.org/officeDocument/2006/relationships/image" Target="../media/image33.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svg"/><Relationship Id="rId10" Type="http://schemas.openxmlformats.org/officeDocument/2006/relationships/hyperlink" Target="https://developer.paypal.com/braintree/graphql/guides/making_api_calls/#a-more-interesting-request#:~:text=Two%20Mutations%20In%20One%20Call,13%3A%20AnchorIcon" TargetMode="External"/><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hyperlink" Target="&#12304;694088645231751&#8224;screenshot&#12305;"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unsplash.com/photos/a-black-and-white-photo-of-circles-and-lines-Quk0CFhi_gU#:~:text=Download%20this%20free%20HD%20photo,mariolagr"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developer.paypal.com/braintree/graphql/guides/#:~:text=Schema%20and%20Types" TargetMode="External"/><Relationship Id="rId5" Type="http://schemas.openxmlformats.org/officeDocument/2006/relationships/hyperlink" Target="https://graphql.org/#:~:text=in%20a%20single%20request" TargetMode="Externa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12304;428510058951871&#8224;screenshot&#12305;"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12304;480115443745776&#8224;screenshot&#12305;" TargetMode="External"/><Relationship Id="rId5" Type="http://schemas.openxmlformats.org/officeDocument/2006/relationships/hyperlink" Target="&#12304;842283118447869&#8224;screenshot&#12305;" TargetMode="External"/><Relationship Id="rId4" Type="http://schemas.openxmlformats.org/officeDocument/2006/relationships/hyperlink" Target="https://developer.paypal.com/braintree/graphql/guides/making_api_calls/#a-more-interesting-request#:~:text=Understanding%20Respons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83CDE2F-2817-4F99-6332-10126B4EA610}"/>
              </a:ext>
            </a:extLst>
          </p:cNvPr>
          <p:cNvGrpSpPr/>
          <p:nvPr/>
        </p:nvGrpSpPr>
        <p:grpSpPr>
          <a:xfrm>
            <a:off x="0" y="0"/>
            <a:ext cx="9144000" cy="5143500"/>
            <a:chOff x="0" y="0"/>
            <a:chExt cx="9144000" cy="514350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0000"/>
              </a:srgbClr>
            </a:solidFill>
            <a:ln/>
          </p:spPr>
          <p:txBody>
            <a:bodyPr/>
            <a:lstStyle/>
            <a:p>
              <a:endParaRPr>
                <a:solidFill>
                  <a:srgbClr val="E20F98"/>
                </a:solidFill>
              </a:endParaRPr>
            </a:p>
          </p:txBody>
        </p:sp>
      </p:grpSp>
      <p:sp>
        <p:nvSpPr>
          <p:cNvPr id="6" name="Text 3"/>
          <p:cNvSpPr/>
          <p:nvPr/>
        </p:nvSpPr>
        <p:spPr>
          <a:xfrm>
            <a:off x="457200" y="4663440"/>
            <a:ext cx="8229600" cy="274320"/>
          </a:xfrm>
          <a:prstGeom prst="rect">
            <a:avLst/>
          </a:prstGeom>
          <a:noFill/>
          <a:ln/>
        </p:spPr>
        <p:txBody>
          <a:bodyPr wrap="square" rtlCol="0" anchor="ctr"/>
          <a:lstStyle/>
          <a:p>
            <a:pPr marL="0" indent="0" algn="ctr">
              <a:buNone/>
            </a:pPr>
            <a:r>
              <a:rPr lang="en-US" sz="1000" dirty="0">
                <a:solidFill>
                  <a:srgbClr val="C5D0E6"/>
                </a:solidFill>
              </a:rPr>
              <a:t>Jasmyn Kelly • August 4, 2025</a:t>
            </a:r>
            <a:endParaRPr lang="en-US" sz="1000" dirty="0"/>
          </a:p>
        </p:txBody>
      </p:sp>
      <p:sp>
        <p:nvSpPr>
          <p:cNvPr id="7" name="Text 4"/>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endParaRPr lang="en-US" sz="600" dirty="0"/>
          </a:p>
        </p:txBody>
      </p:sp>
      <p:pic>
        <p:nvPicPr>
          <p:cNvPr id="8" name="Image 1" descr="/home/oai/share/graphql_logo.png">
            <a:extLst>
              <a:ext uri="{FF2B5EF4-FFF2-40B4-BE49-F238E27FC236}">
                <a16:creationId xmlns:a16="http://schemas.microsoft.com/office/drawing/2014/main" id="{C5B6B52C-EA98-8CA7-7489-DDF002DE74F0}"/>
              </a:ext>
            </a:extLst>
          </p:cNvPr>
          <p:cNvPicPr>
            <a:picLocks noChangeAspect="1"/>
          </p:cNvPicPr>
          <p:nvPr/>
        </p:nvPicPr>
        <p:blipFill>
          <a:blip r:embed="rId6"/>
          <a:stretch>
            <a:fillRect/>
          </a:stretch>
        </p:blipFill>
        <p:spPr>
          <a:xfrm>
            <a:off x="457200" y="1062990"/>
            <a:ext cx="1188720" cy="1188720"/>
          </a:xfrm>
          <a:prstGeom prst="rect">
            <a:avLst/>
          </a:prstGeom>
        </p:spPr>
      </p:pic>
      <p:sp>
        <p:nvSpPr>
          <p:cNvPr id="9" name="Text 1">
            <a:extLst>
              <a:ext uri="{FF2B5EF4-FFF2-40B4-BE49-F238E27FC236}">
                <a16:creationId xmlns:a16="http://schemas.microsoft.com/office/drawing/2014/main" id="{C71A997F-417F-E633-018A-019FA55C842F}"/>
              </a:ext>
            </a:extLst>
          </p:cNvPr>
          <p:cNvSpPr/>
          <p:nvPr/>
        </p:nvSpPr>
        <p:spPr>
          <a:xfrm>
            <a:off x="1714932" y="1062990"/>
            <a:ext cx="6858000" cy="1188720"/>
          </a:xfrm>
          <a:prstGeom prst="rect">
            <a:avLst/>
          </a:prstGeom>
          <a:noFill/>
          <a:ln/>
        </p:spPr>
        <p:txBody>
          <a:bodyPr wrap="square" rtlCol="0" anchor="ctr"/>
          <a:lstStyle/>
          <a:p>
            <a:pPr marL="0" indent="0" algn="l">
              <a:buNone/>
            </a:pPr>
            <a:r>
              <a:rPr lang="en-US" sz="4000" b="1" dirty="0">
                <a:solidFill>
                  <a:srgbClr val="E10098"/>
                </a:solidFill>
              </a:rPr>
              <a:t>Braintree GraphQL
</a:t>
            </a:r>
            <a:r>
              <a:rPr lang="en-US" sz="1800" dirty="0">
                <a:solidFill>
                  <a:srgbClr val="F5F5F5"/>
                </a:solidFill>
              </a:rPr>
              <a:t>Modern Payment Integration</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oai/share/50e89b73-047e-436e-b032-0e33c81c2bcf.png"/>
          <p:cNvPicPr>
            <a:picLocks noChangeAspect="1"/>
          </p:cNvPicPr>
          <p:nvPr/>
        </p:nvPicPr>
        <p:blipFill>
          <a:blip r:embed="rId3"/>
          <a:srcRect t="21875" b="21875"/>
          <a:stretch/>
        </p:blipFill>
        <p:spPr>
          <a:xfrm>
            <a:off x="0" y="0"/>
            <a:ext cx="9144000" cy="5143500"/>
          </a:xfrm>
          <a:prstGeom prst="rect">
            <a:avLst/>
          </a:prstGeom>
        </p:spPr>
      </p:pic>
      <p:sp>
        <p:nvSpPr>
          <p:cNvPr id="3" name="Shape 0"/>
          <p:cNvSpPr/>
          <p:nvPr/>
        </p:nvSpPr>
        <p:spPr>
          <a:xfrm>
            <a:off x="0" y="194734"/>
            <a:ext cx="9144000" cy="5143500"/>
          </a:xfrm>
          <a:prstGeom prst="rect">
            <a:avLst/>
          </a:prstGeom>
          <a:solidFill>
            <a:srgbClr val="000000">
              <a:alpha val="60000"/>
            </a:srgbClr>
          </a:solidFill>
          <a:ln/>
        </p:spPr>
        <p:txBody>
          <a:bodyPr/>
          <a:lstStyle/>
          <a:p>
            <a:endParaRPr/>
          </a:p>
        </p:txBody>
      </p:sp>
      <p:sp>
        <p:nvSpPr>
          <p:cNvPr id="4" name="Text 1"/>
          <p:cNvSpPr/>
          <p:nvPr/>
        </p:nvSpPr>
        <p:spPr>
          <a:xfrm>
            <a:off x="457200" y="457200"/>
            <a:ext cx="4114800" cy="731520"/>
          </a:xfrm>
          <a:prstGeom prst="rect">
            <a:avLst/>
          </a:prstGeom>
          <a:noFill/>
          <a:ln/>
        </p:spPr>
        <p:txBody>
          <a:bodyPr wrap="square" rtlCol="0" anchor="ctr"/>
          <a:lstStyle/>
          <a:p>
            <a:pPr marL="0" indent="0">
              <a:buNone/>
            </a:pPr>
            <a:r>
              <a:rPr lang="en-US" sz="2400" b="1" dirty="0">
                <a:solidFill>
                  <a:srgbClr val="FFFFFF"/>
                </a:solidFill>
              </a:rPr>
              <a:t>Agenda</a:t>
            </a:r>
            <a:endParaRPr lang="en-US" sz="2400" dirty="0"/>
          </a:p>
        </p:txBody>
      </p:sp>
      <p:sp>
        <p:nvSpPr>
          <p:cNvPr id="5" name="Shape 2"/>
          <p:cNvSpPr/>
          <p:nvPr/>
        </p:nvSpPr>
        <p:spPr>
          <a:xfrm>
            <a:off x="548640" y="1325880"/>
            <a:ext cx="109728" cy="109728"/>
          </a:xfrm>
          <a:prstGeom prst="ellipse">
            <a:avLst/>
          </a:prstGeom>
          <a:solidFill>
            <a:srgbClr val="E10098"/>
          </a:solidFill>
          <a:ln w="12700">
            <a:solidFill>
              <a:srgbClr val="E10098"/>
            </a:solidFill>
            <a:prstDash val="solid"/>
          </a:ln>
        </p:spPr>
        <p:txBody>
          <a:bodyPr/>
          <a:lstStyle/>
          <a:p>
            <a:endParaRPr/>
          </a:p>
        </p:txBody>
      </p:sp>
      <p:sp>
        <p:nvSpPr>
          <p:cNvPr id="6" name="Text 3"/>
          <p:cNvSpPr/>
          <p:nvPr/>
        </p:nvSpPr>
        <p:spPr>
          <a:xfrm>
            <a:off x="713232" y="1280160"/>
            <a:ext cx="7589520" cy="365760"/>
          </a:xfrm>
          <a:prstGeom prst="rect">
            <a:avLst/>
          </a:prstGeom>
          <a:noFill/>
          <a:ln/>
        </p:spPr>
        <p:txBody>
          <a:bodyPr wrap="square" rtlCol="0" anchor="t"/>
          <a:lstStyle/>
          <a:p>
            <a:pPr marL="0" indent="0">
              <a:buNone/>
            </a:pPr>
            <a:r>
              <a:rPr lang="en-US" sz="1200" dirty="0">
                <a:solidFill>
                  <a:srgbClr val="FFFFFF"/>
                </a:solidFill>
              </a:rPr>
              <a:t>Overview &amp; motivations</a:t>
            </a:r>
            <a:endParaRPr lang="en-US" sz="1200" dirty="0"/>
          </a:p>
        </p:txBody>
      </p:sp>
      <p:sp>
        <p:nvSpPr>
          <p:cNvPr id="7" name="Shape 4"/>
          <p:cNvSpPr/>
          <p:nvPr/>
        </p:nvSpPr>
        <p:spPr>
          <a:xfrm>
            <a:off x="548640" y="1737360"/>
            <a:ext cx="109728" cy="109728"/>
          </a:xfrm>
          <a:prstGeom prst="ellipse">
            <a:avLst/>
          </a:prstGeom>
          <a:solidFill>
            <a:srgbClr val="E10098"/>
          </a:solidFill>
          <a:ln w="12700">
            <a:solidFill>
              <a:srgbClr val="E10098"/>
            </a:solidFill>
            <a:prstDash val="solid"/>
          </a:ln>
        </p:spPr>
        <p:txBody>
          <a:bodyPr/>
          <a:lstStyle/>
          <a:p>
            <a:endParaRPr/>
          </a:p>
        </p:txBody>
      </p:sp>
      <p:sp>
        <p:nvSpPr>
          <p:cNvPr id="8" name="Text 5"/>
          <p:cNvSpPr/>
          <p:nvPr/>
        </p:nvSpPr>
        <p:spPr>
          <a:xfrm>
            <a:off x="713232" y="1691640"/>
            <a:ext cx="7589520" cy="365760"/>
          </a:xfrm>
          <a:prstGeom prst="rect">
            <a:avLst/>
          </a:prstGeom>
          <a:noFill/>
          <a:ln/>
        </p:spPr>
        <p:txBody>
          <a:bodyPr wrap="square" rtlCol="0" anchor="t"/>
          <a:lstStyle/>
          <a:p>
            <a:pPr marL="0" indent="0">
              <a:buNone/>
            </a:pPr>
            <a:r>
              <a:rPr lang="en-US" sz="1200" dirty="0">
                <a:solidFill>
                  <a:srgbClr val="FFFFFF"/>
                </a:solidFill>
              </a:rPr>
              <a:t>Why GraphQL vs REST</a:t>
            </a:r>
            <a:endParaRPr lang="en-US" sz="1200" dirty="0"/>
          </a:p>
        </p:txBody>
      </p:sp>
      <p:sp>
        <p:nvSpPr>
          <p:cNvPr id="9" name="Shape 6"/>
          <p:cNvSpPr/>
          <p:nvPr/>
        </p:nvSpPr>
        <p:spPr>
          <a:xfrm>
            <a:off x="548640" y="2148840"/>
            <a:ext cx="109728" cy="109728"/>
          </a:xfrm>
          <a:prstGeom prst="ellipse">
            <a:avLst/>
          </a:prstGeom>
          <a:solidFill>
            <a:srgbClr val="E10098"/>
          </a:solidFill>
          <a:ln w="12700">
            <a:solidFill>
              <a:srgbClr val="E10098"/>
            </a:solidFill>
            <a:prstDash val="solid"/>
          </a:ln>
        </p:spPr>
        <p:txBody>
          <a:bodyPr/>
          <a:lstStyle/>
          <a:p>
            <a:endParaRPr/>
          </a:p>
        </p:txBody>
      </p:sp>
      <p:sp>
        <p:nvSpPr>
          <p:cNvPr id="10" name="Text 7"/>
          <p:cNvSpPr/>
          <p:nvPr/>
        </p:nvSpPr>
        <p:spPr>
          <a:xfrm>
            <a:off x="713232" y="2103120"/>
            <a:ext cx="7589520" cy="365760"/>
          </a:xfrm>
          <a:prstGeom prst="rect">
            <a:avLst/>
          </a:prstGeom>
          <a:noFill/>
          <a:ln/>
        </p:spPr>
        <p:txBody>
          <a:bodyPr wrap="square" rtlCol="0" anchor="t"/>
          <a:lstStyle/>
          <a:p>
            <a:pPr marL="0" indent="0">
              <a:buNone/>
            </a:pPr>
            <a:r>
              <a:rPr lang="en-US" sz="1200" dirty="0">
                <a:solidFill>
                  <a:srgbClr val="FFFFFF"/>
                </a:solidFill>
              </a:rPr>
              <a:t>Getting started &amp; authentication</a:t>
            </a:r>
            <a:endParaRPr lang="en-US" sz="1200" dirty="0"/>
          </a:p>
        </p:txBody>
      </p:sp>
      <p:sp>
        <p:nvSpPr>
          <p:cNvPr id="11" name="Shape 8"/>
          <p:cNvSpPr/>
          <p:nvPr/>
        </p:nvSpPr>
        <p:spPr>
          <a:xfrm>
            <a:off x="548640" y="2560320"/>
            <a:ext cx="109728" cy="109728"/>
          </a:xfrm>
          <a:prstGeom prst="ellipse">
            <a:avLst/>
          </a:prstGeom>
          <a:solidFill>
            <a:srgbClr val="E10098"/>
          </a:solidFill>
          <a:ln w="12700">
            <a:solidFill>
              <a:srgbClr val="E10098"/>
            </a:solidFill>
            <a:prstDash val="solid"/>
          </a:ln>
        </p:spPr>
        <p:txBody>
          <a:bodyPr/>
          <a:lstStyle/>
          <a:p>
            <a:endParaRPr/>
          </a:p>
        </p:txBody>
      </p:sp>
      <p:sp>
        <p:nvSpPr>
          <p:cNvPr id="12" name="Text 9"/>
          <p:cNvSpPr/>
          <p:nvPr/>
        </p:nvSpPr>
        <p:spPr>
          <a:xfrm>
            <a:off x="713232" y="2514600"/>
            <a:ext cx="7589520" cy="365760"/>
          </a:xfrm>
          <a:prstGeom prst="rect">
            <a:avLst/>
          </a:prstGeom>
          <a:noFill/>
          <a:ln/>
        </p:spPr>
        <p:txBody>
          <a:bodyPr wrap="square" rtlCol="0" anchor="t"/>
          <a:lstStyle/>
          <a:p>
            <a:pPr marL="0" indent="0">
              <a:buNone/>
            </a:pPr>
            <a:r>
              <a:rPr lang="en-US" sz="1200" dirty="0">
                <a:solidFill>
                  <a:srgbClr val="FFFFFF"/>
                </a:solidFill>
              </a:rPr>
              <a:t>Multiple charges in one call</a:t>
            </a:r>
            <a:endParaRPr lang="en-US" sz="1200" dirty="0"/>
          </a:p>
        </p:txBody>
      </p:sp>
      <p:sp>
        <p:nvSpPr>
          <p:cNvPr id="13" name="Shape 10"/>
          <p:cNvSpPr/>
          <p:nvPr/>
        </p:nvSpPr>
        <p:spPr>
          <a:xfrm>
            <a:off x="548640" y="2971800"/>
            <a:ext cx="109728" cy="109728"/>
          </a:xfrm>
          <a:prstGeom prst="ellipse">
            <a:avLst/>
          </a:prstGeom>
          <a:solidFill>
            <a:srgbClr val="E10098"/>
          </a:solidFill>
          <a:ln w="12700">
            <a:solidFill>
              <a:srgbClr val="E10098"/>
            </a:solidFill>
            <a:prstDash val="solid"/>
          </a:ln>
        </p:spPr>
        <p:txBody>
          <a:bodyPr/>
          <a:lstStyle/>
          <a:p>
            <a:endParaRPr/>
          </a:p>
        </p:txBody>
      </p:sp>
      <p:sp>
        <p:nvSpPr>
          <p:cNvPr id="14" name="Text 11"/>
          <p:cNvSpPr/>
          <p:nvPr/>
        </p:nvSpPr>
        <p:spPr>
          <a:xfrm>
            <a:off x="713232" y="2926080"/>
            <a:ext cx="7589520" cy="365760"/>
          </a:xfrm>
          <a:prstGeom prst="rect">
            <a:avLst/>
          </a:prstGeom>
          <a:noFill/>
          <a:ln/>
        </p:spPr>
        <p:txBody>
          <a:bodyPr wrap="square" rtlCol="0" anchor="t"/>
          <a:lstStyle/>
          <a:p>
            <a:pPr marL="0" indent="0">
              <a:buNone/>
            </a:pPr>
            <a:r>
              <a:rPr lang="en-US" sz="1200" dirty="0">
                <a:solidFill>
                  <a:srgbClr val="FFFFFF"/>
                </a:solidFill>
              </a:rPr>
              <a:t>Key features &amp; schema</a:t>
            </a:r>
            <a:endParaRPr lang="en-US" sz="1200" dirty="0"/>
          </a:p>
        </p:txBody>
      </p:sp>
      <p:sp>
        <p:nvSpPr>
          <p:cNvPr id="15" name="Shape 12"/>
          <p:cNvSpPr/>
          <p:nvPr/>
        </p:nvSpPr>
        <p:spPr>
          <a:xfrm>
            <a:off x="548640" y="3383280"/>
            <a:ext cx="109728" cy="109728"/>
          </a:xfrm>
          <a:prstGeom prst="ellipse">
            <a:avLst/>
          </a:prstGeom>
          <a:solidFill>
            <a:srgbClr val="E10098"/>
          </a:solidFill>
          <a:ln w="12700">
            <a:solidFill>
              <a:srgbClr val="E10098"/>
            </a:solidFill>
            <a:prstDash val="solid"/>
          </a:ln>
        </p:spPr>
        <p:txBody>
          <a:bodyPr/>
          <a:lstStyle/>
          <a:p>
            <a:endParaRPr/>
          </a:p>
        </p:txBody>
      </p:sp>
      <p:sp>
        <p:nvSpPr>
          <p:cNvPr id="16" name="Text 13"/>
          <p:cNvSpPr/>
          <p:nvPr/>
        </p:nvSpPr>
        <p:spPr>
          <a:xfrm>
            <a:off x="713232" y="3337560"/>
            <a:ext cx="7589520" cy="365760"/>
          </a:xfrm>
          <a:prstGeom prst="rect">
            <a:avLst/>
          </a:prstGeom>
          <a:noFill/>
          <a:ln/>
        </p:spPr>
        <p:txBody>
          <a:bodyPr wrap="square" rtlCol="0" anchor="t"/>
          <a:lstStyle/>
          <a:p>
            <a:pPr marL="0" indent="0">
              <a:buNone/>
            </a:pPr>
            <a:r>
              <a:rPr lang="en-US" sz="1200" dirty="0">
                <a:solidFill>
                  <a:srgbClr val="FFFFFF"/>
                </a:solidFill>
              </a:rPr>
              <a:t>Query examples</a:t>
            </a:r>
            <a:endParaRPr lang="en-US" sz="1200" dirty="0"/>
          </a:p>
        </p:txBody>
      </p:sp>
      <p:sp>
        <p:nvSpPr>
          <p:cNvPr id="17" name="Shape 14"/>
          <p:cNvSpPr/>
          <p:nvPr/>
        </p:nvSpPr>
        <p:spPr>
          <a:xfrm>
            <a:off x="548640" y="3794760"/>
            <a:ext cx="109728" cy="109728"/>
          </a:xfrm>
          <a:prstGeom prst="ellipse">
            <a:avLst/>
          </a:prstGeom>
          <a:solidFill>
            <a:srgbClr val="E10098"/>
          </a:solidFill>
          <a:ln w="12700">
            <a:solidFill>
              <a:srgbClr val="E10098"/>
            </a:solidFill>
            <a:prstDash val="solid"/>
          </a:ln>
        </p:spPr>
        <p:txBody>
          <a:bodyPr/>
          <a:lstStyle/>
          <a:p>
            <a:endParaRPr/>
          </a:p>
        </p:txBody>
      </p:sp>
      <p:sp>
        <p:nvSpPr>
          <p:cNvPr id="18" name="Text 15"/>
          <p:cNvSpPr/>
          <p:nvPr/>
        </p:nvSpPr>
        <p:spPr>
          <a:xfrm>
            <a:off x="713232" y="3749040"/>
            <a:ext cx="7589520" cy="365760"/>
          </a:xfrm>
          <a:prstGeom prst="rect">
            <a:avLst/>
          </a:prstGeom>
          <a:noFill/>
          <a:ln/>
        </p:spPr>
        <p:txBody>
          <a:bodyPr wrap="square" rtlCol="0" anchor="t"/>
          <a:lstStyle/>
          <a:p>
            <a:pPr marL="0" indent="0">
              <a:buNone/>
            </a:pPr>
            <a:r>
              <a:rPr lang="en-US" sz="1200" dirty="0">
                <a:solidFill>
                  <a:srgbClr val="FFFFFF"/>
                </a:solidFill>
              </a:rPr>
              <a:t>Mutations &amp; subscriptions</a:t>
            </a:r>
            <a:endParaRPr lang="en-US" sz="1200" dirty="0"/>
          </a:p>
        </p:txBody>
      </p:sp>
      <p:sp>
        <p:nvSpPr>
          <p:cNvPr id="19" name="Shape 16"/>
          <p:cNvSpPr/>
          <p:nvPr/>
        </p:nvSpPr>
        <p:spPr>
          <a:xfrm>
            <a:off x="548640" y="4206240"/>
            <a:ext cx="109728" cy="109728"/>
          </a:xfrm>
          <a:prstGeom prst="ellipse">
            <a:avLst/>
          </a:prstGeom>
          <a:solidFill>
            <a:srgbClr val="E10098"/>
          </a:solidFill>
          <a:ln w="12700">
            <a:solidFill>
              <a:srgbClr val="E10098"/>
            </a:solidFill>
            <a:prstDash val="solid"/>
          </a:ln>
        </p:spPr>
        <p:txBody>
          <a:bodyPr/>
          <a:lstStyle/>
          <a:p>
            <a:endParaRPr/>
          </a:p>
        </p:txBody>
      </p:sp>
      <p:sp>
        <p:nvSpPr>
          <p:cNvPr id="20" name="Text 17"/>
          <p:cNvSpPr/>
          <p:nvPr/>
        </p:nvSpPr>
        <p:spPr>
          <a:xfrm>
            <a:off x="713232" y="4160520"/>
            <a:ext cx="7589520" cy="365760"/>
          </a:xfrm>
          <a:prstGeom prst="rect">
            <a:avLst/>
          </a:prstGeom>
          <a:noFill/>
          <a:ln/>
        </p:spPr>
        <p:txBody>
          <a:bodyPr wrap="square" rtlCol="0" anchor="t"/>
          <a:lstStyle/>
          <a:p>
            <a:pPr marL="0" indent="0">
              <a:buNone/>
            </a:pPr>
            <a:r>
              <a:rPr lang="en-US" sz="1200" dirty="0">
                <a:solidFill>
                  <a:srgbClr val="FFFFFF"/>
                </a:solidFill>
              </a:rPr>
              <a:t>Conclusion &amp; next steps</a:t>
            </a:r>
            <a:endParaRPr lang="en-US" sz="1200" dirty="0"/>
          </a:p>
        </p:txBody>
      </p:sp>
      <p:sp>
        <p:nvSpPr>
          <p:cNvPr id="21" name="Text 18"/>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457200" y="1280160"/>
            <a:ext cx="8229600" cy="3017520"/>
          </a:xfrm>
          <a:prstGeom prst="roundRect">
            <a:avLst>
              <a:gd name="adj" fmla="val 3030"/>
            </a:avLst>
          </a:prstGeom>
          <a:solidFill>
            <a:srgbClr val="0B1F4A">
              <a:alpha val="90000"/>
            </a:srgbClr>
          </a:solidFill>
          <a:ln w="12700">
            <a:solidFill>
              <a:srgbClr val="E10098"/>
            </a:solidFill>
            <a:prstDash val="solid"/>
          </a:ln>
        </p:spPr>
        <p:txBody>
          <a:bodyPr/>
          <a:lstStyle/>
          <a:p>
            <a:endParaRPr dirty="0"/>
          </a:p>
        </p:txBody>
      </p:sp>
      <p:sp>
        <p:nvSpPr>
          <p:cNvPr id="4" name="Text 1"/>
          <p:cNvSpPr/>
          <p:nvPr/>
        </p:nvSpPr>
        <p:spPr>
          <a:xfrm>
            <a:off x="548640" y="1005840"/>
            <a:ext cx="8046720" cy="640080"/>
          </a:xfrm>
          <a:prstGeom prst="rect">
            <a:avLst/>
          </a:prstGeom>
          <a:noFill/>
          <a:ln/>
        </p:spPr>
        <p:txBody>
          <a:bodyPr wrap="square" rtlCol="0" anchor="ctr"/>
          <a:lstStyle/>
          <a:p>
            <a:pPr marL="0" indent="0">
              <a:buNone/>
            </a:pPr>
            <a:r>
              <a:rPr lang="en-US" sz="2400" b="1" dirty="0">
                <a:solidFill>
                  <a:srgbClr val="FFFFFF"/>
                </a:solidFill>
              </a:rPr>
              <a:t>What is Braintree GraphQL?</a:t>
            </a:r>
            <a:endParaRPr lang="en-US" sz="2400" dirty="0"/>
          </a:p>
        </p:txBody>
      </p:sp>
      <p:sp>
        <p:nvSpPr>
          <p:cNvPr id="11" name="Text 8"/>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r>
              <a:rPr lang="en-US" sz="600" dirty="0">
                <a:solidFill>
                  <a:srgbClr val="000000"/>
                </a:solidFill>
              </a:rPr>
              <a:t>   </a:t>
            </a:r>
            <a:r>
              <a:rPr lang="en-US" sz="600" u="sng" dirty="0">
                <a:solidFill>
                  <a:srgbClr val="00B0F0"/>
                </a:solidFill>
                <a:hlinkClick r:id="rId6"/>
              </a:rPr>
              <a:t>[3]</a:t>
            </a:r>
            <a:endParaRPr lang="en-US" sz="600" dirty="0"/>
          </a:p>
        </p:txBody>
      </p:sp>
      <p:grpSp>
        <p:nvGrpSpPr>
          <p:cNvPr id="17" name="Group 16">
            <a:extLst>
              <a:ext uri="{FF2B5EF4-FFF2-40B4-BE49-F238E27FC236}">
                <a16:creationId xmlns:a16="http://schemas.microsoft.com/office/drawing/2014/main" id="{EC808772-41B4-4A14-6561-2C6C6717E6A3}"/>
              </a:ext>
            </a:extLst>
          </p:cNvPr>
          <p:cNvGrpSpPr/>
          <p:nvPr/>
        </p:nvGrpSpPr>
        <p:grpSpPr>
          <a:xfrm>
            <a:off x="729742" y="1920240"/>
            <a:ext cx="7545578" cy="1645921"/>
            <a:chOff x="729742" y="1920240"/>
            <a:chExt cx="7545578" cy="1645921"/>
          </a:xfrm>
        </p:grpSpPr>
        <p:sp>
          <p:nvSpPr>
            <p:cNvPr id="6" name="Text 3"/>
            <p:cNvSpPr/>
            <p:nvPr/>
          </p:nvSpPr>
          <p:spPr>
            <a:xfrm>
              <a:off x="960120" y="1920240"/>
              <a:ext cx="7315200" cy="320040"/>
            </a:xfrm>
            <a:prstGeom prst="rect">
              <a:avLst/>
            </a:prstGeom>
            <a:noFill/>
            <a:ln/>
          </p:spPr>
          <p:txBody>
            <a:bodyPr wrap="square" rtlCol="0" anchor="ctr"/>
            <a:lstStyle/>
            <a:p>
              <a:pPr marL="0" indent="0">
                <a:buNone/>
              </a:pPr>
              <a:r>
                <a:rPr lang="en-US" sz="1200" dirty="0">
                  <a:solidFill>
                    <a:srgbClr val="FFFFFF"/>
                  </a:solidFill>
                </a:rPr>
                <a:t>Use </a:t>
              </a:r>
              <a:r>
                <a:rPr lang="en-US" sz="1200" b="1" dirty="0">
                  <a:solidFill>
                    <a:srgbClr val="FFFFFF"/>
                  </a:solidFill>
                </a:rPr>
                <a:t>Queries</a:t>
              </a:r>
              <a:r>
                <a:rPr lang="en-US" sz="1200" dirty="0">
                  <a:solidFill>
                    <a:srgbClr val="FFFFFF"/>
                  </a:solidFill>
                </a:rPr>
                <a:t> to fetch data, e.g., </a:t>
              </a:r>
              <a:endParaRPr lang="en-US" sz="1200" dirty="0"/>
            </a:p>
          </p:txBody>
        </p:sp>
        <p:sp>
          <p:nvSpPr>
            <p:cNvPr id="8" name="Text 5"/>
            <p:cNvSpPr/>
            <p:nvPr/>
          </p:nvSpPr>
          <p:spPr>
            <a:xfrm>
              <a:off x="960120" y="2804160"/>
              <a:ext cx="7315200" cy="320040"/>
            </a:xfrm>
            <a:prstGeom prst="rect">
              <a:avLst/>
            </a:prstGeom>
            <a:noFill/>
            <a:ln/>
          </p:spPr>
          <p:txBody>
            <a:bodyPr wrap="square" rtlCol="0" anchor="ctr"/>
            <a:lstStyle/>
            <a:p>
              <a:pPr marL="0" indent="0">
                <a:buNone/>
              </a:pPr>
              <a:r>
                <a:rPr lang="en-US" sz="1200" dirty="0">
                  <a:solidFill>
                    <a:srgbClr val="FFFFFF"/>
                  </a:solidFill>
                </a:rPr>
                <a:t>Requests start with the keyword </a:t>
              </a:r>
              <a:r>
                <a:rPr lang="en-US" sz="1200" b="1" dirty="0">
                  <a:solidFill>
                    <a:srgbClr val="FFFFFF"/>
                  </a:solidFill>
                </a:rPr>
                <a:t>query</a:t>
              </a:r>
              <a:r>
                <a:rPr lang="en-US" sz="1200" dirty="0">
                  <a:solidFill>
                    <a:srgbClr val="FFFFFF"/>
                  </a:solidFill>
                </a:rPr>
                <a:t> or </a:t>
              </a:r>
              <a:r>
                <a:rPr lang="en-US" sz="1200" b="1" dirty="0">
                  <a:solidFill>
                    <a:srgbClr val="FFFFFF"/>
                  </a:solidFill>
                </a:rPr>
                <a:t>mutation,</a:t>
              </a:r>
              <a:r>
                <a:rPr lang="en-US" sz="1200" dirty="0">
                  <a:solidFill>
                    <a:srgbClr val="FFFFFF"/>
                  </a:solidFill>
                </a:rPr>
                <a:t> then the specified fields</a:t>
              </a:r>
              <a:endParaRPr lang="en-US" sz="1200" dirty="0"/>
            </a:p>
          </p:txBody>
        </p:sp>
        <p:sp>
          <p:nvSpPr>
            <p:cNvPr id="10" name="Text 7"/>
            <p:cNvSpPr/>
            <p:nvPr/>
          </p:nvSpPr>
          <p:spPr>
            <a:xfrm>
              <a:off x="960120" y="3246121"/>
              <a:ext cx="7315200" cy="320040"/>
            </a:xfrm>
            <a:prstGeom prst="rect">
              <a:avLst/>
            </a:prstGeom>
            <a:noFill/>
            <a:ln/>
          </p:spPr>
          <p:txBody>
            <a:bodyPr wrap="square" rtlCol="0" anchor="ctr"/>
            <a:lstStyle/>
            <a:p>
              <a:pPr marL="0" indent="0">
                <a:buNone/>
              </a:pPr>
              <a:r>
                <a:rPr lang="en-US" sz="1200" dirty="0">
                  <a:solidFill>
                    <a:srgbClr val="FFFFFF"/>
                  </a:solidFill>
                </a:rPr>
                <a:t>Strongly typed schema accessible via introspection</a:t>
              </a:r>
              <a:endParaRPr lang="en-US" sz="1200" dirty="0"/>
            </a:p>
          </p:txBody>
        </p:sp>
        <p:sp>
          <p:nvSpPr>
            <p:cNvPr id="5" name="Shape 2"/>
            <p:cNvSpPr/>
            <p:nvPr/>
          </p:nvSpPr>
          <p:spPr>
            <a:xfrm>
              <a:off x="729742" y="1997964"/>
              <a:ext cx="164592" cy="164592"/>
            </a:xfrm>
            <a:prstGeom prst="ellipse">
              <a:avLst/>
            </a:prstGeom>
            <a:solidFill>
              <a:srgbClr val="E10098"/>
            </a:solidFill>
            <a:ln w="12700">
              <a:solidFill>
                <a:srgbClr val="E10098"/>
              </a:solidFill>
              <a:prstDash val="solid"/>
            </a:ln>
          </p:spPr>
          <p:txBody>
            <a:bodyPr/>
            <a:lstStyle/>
            <a:p>
              <a:endParaRPr/>
            </a:p>
          </p:txBody>
        </p:sp>
        <p:sp>
          <p:nvSpPr>
            <p:cNvPr id="7" name="Shape 4"/>
            <p:cNvSpPr/>
            <p:nvPr/>
          </p:nvSpPr>
          <p:spPr>
            <a:xfrm>
              <a:off x="729742" y="2439924"/>
              <a:ext cx="164592" cy="164592"/>
            </a:xfrm>
            <a:prstGeom prst="ellipse">
              <a:avLst/>
            </a:prstGeom>
            <a:solidFill>
              <a:srgbClr val="0070BA"/>
            </a:solidFill>
            <a:ln w="12700">
              <a:solidFill>
                <a:srgbClr val="0070BA"/>
              </a:solidFill>
              <a:prstDash val="solid"/>
            </a:ln>
          </p:spPr>
          <p:txBody>
            <a:bodyPr/>
            <a:lstStyle/>
            <a:p>
              <a:endParaRPr/>
            </a:p>
          </p:txBody>
        </p:sp>
        <p:sp>
          <p:nvSpPr>
            <p:cNvPr id="9" name="Shape 6"/>
            <p:cNvSpPr/>
            <p:nvPr/>
          </p:nvSpPr>
          <p:spPr>
            <a:xfrm>
              <a:off x="729742" y="3323845"/>
              <a:ext cx="164592" cy="164592"/>
            </a:xfrm>
            <a:prstGeom prst="ellipse">
              <a:avLst/>
            </a:prstGeom>
            <a:solidFill>
              <a:srgbClr val="6937FF"/>
            </a:solidFill>
            <a:ln w="12700">
              <a:solidFill>
                <a:srgbClr val="6937FF"/>
              </a:solidFill>
              <a:prstDash val="solid"/>
            </a:ln>
          </p:spPr>
          <p:txBody>
            <a:bodyPr/>
            <a:lstStyle/>
            <a:p>
              <a:endParaRPr/>
            </a:p>
          </p:txBody>
        </p:sp>
        <p:sp>
          <p:nvSpPr>
            <p:cNvPr id="12" name="Shape 2">
              <a:extLst>
                <a:ext uri="{FF2B5EF4-FFF2-40B4-BE49-F238E27FC236}">
                  <a16:creationId xmlns:a16="http://schemas.microsoft.com/office/drawing/2014/main" id="{BD4BED08-7385-6455-2178-03B4A2C52ABF}"/>
                </a:ext>
              </a:extLst>
            </p:cNvPr>
            <p:cNvSpPr/>
            <p:nvPr/>
          </p:nvSpPr>
          <p:spPr>
            <a:xfrm>
              <a:off x="729742" y="2881884"/>
              <a:ext cx="164592" cy="164592"/>
            </a:xfrm>
            <a:prstGeom prst="ellipse">
              <a:avLst/>
            </a:prstGeom>
            <a:solidFill>
              <a:srgbClr val="B71F5D"/>
            </a:solidFill>
            <a:ln w="12700">
              <a:solidFill>
                <a:srgbClr val="E10098"/>
              </a:solidFill>
              <a:prstDash val="solid"/>
            </a:ln>
          </p:spPr>
          <p:txBody>
            <a:bodyPr/>
            <a:lstStyle/>
            <a:p>
              <a:endParaRPr/>
            </a:p>
          </p:txBody>
        </p:sp>
        <p:sp>
          <p:nvSpPr>
            <p:cNvPr id="13" name="Text 3">
              <a:extLst>
                <a:ext uri="{FF2B5EF4-FFF2-40B4-BE49-F238E27FC236}">
                  <a16:creationId xmlns:a16="http://schemas.microsoft.com/office/drawing/2014/main" id="{BA5DB9A8-8A9E-322E-869F-9F34413CB9E6}"/>
                </a:ext>
              </a:extLst>
            </p:cNvPr>
            <p:cNvSpPr/>
            <p:nvPr/>
          </p:nvSpPr>
          <p:spPr>
            <a:xfrm>
              <a:off x="960120" y="2362200"/>
              <a:ext cx="7315200" cy="320040"/>
            </a:xfrm>
            <a:prstGeom prst="rect">
              <a:avLst/>
            </a:prstGeom>
            <a:noFill/>
            <a:ln/>
          </p:spPr>
          <p:txBody>
            <a:bodyPr wrap="square" rtlCol="0" anchor="ctr"/>
            <a:lstStyle/>
            <a:p>
              <a:r>
                <a:rPr lang="en-US" sz="1200" dirty="0">
                  <a:solidFill>
                    <a:srgbClr val="FFFFFF"/>
                  </a:solidFill>
                </a:rPr>
                <a:t>Use </a:t>
              </a:r>
              <a:r>
                <a:rPr lang="en-US" sz="1200" b="1" dirty="0">
                  <a:solidFill>
                    <a:srgbClr val="FFFFFF"/>
                  </a:solidFill>
                </a:rPr>
                <a:t>Mutations</a:t>
              </a:r>
              <a:r>
                <a:rPr lang="en-US" sz="1200" dirty="0">
                  <a:solidFill>
                    <a:srgbClr val="FFFFFF"/>
                  </a:solidFill>
                </a:rPr>
                <a:t> to perform changes   -Mutations must be explicit: describe the action and data you want returned.</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oai/share/50e89b73-047e-436e-b032-0e33c81c2bcf.png"/>
          <p:cNvPicPr>
            <a:picLocks noChangeAspect="1"/>
          </p:cNvPicPr>
          <p:nvPr/>
        </p:nvPicPr>
        <p:blipFill>
          <a:blip r:embed="rId3"/>
          <a:srcRect t="21875" b="21875"/>
          <a:stretch/>
        </p:blipFill>
        <p:spPr>
          <a:xfrm>
            <a:off x="0" y="0"/>
            <a:ext cx="9144000" cy="5143500"/>
          </a:xfrm>
          <a:prstGeom prst="rect">
            <a:avLst/>
          </a:prstGeom>
        </p:spPr>
      </p:pic>
      <p:sp>
        <p:nvSpPr>
          <p:cNvPr id="19" name="Shape 0">
            <a:extLst>
              <a:ext uri="{FF2B5EF4-FFF2-40B4-BE49-F238E27FC236}">
                <a16:creationId xmlns:a16="http://schemas.microsoft.com/office/drawing/2014/main" id="{64667AEA-BBB2-A231-7C11-CD3C80EB1BA5}"/>
              </a:ext>
            </a:extLst>
          </p:cNvPr>
          <p:cNvSpPr/>
          <p:nvPr/>
        </p:nvSpPr>
        <p:spPr>
          <a:xfrm>
            <a:off x="0" y="0"/>
            <a:ext cx="9144000" cy="5143500"/>
          </a:xfrm>
          <a:prstGeom prst="rect">
            <a:avLst/>
          </a:prstGeom>
          <a:solidFill>
            <a:srgbClr val="000000">
              <a:alpha val="70000"/>
            </a:srgbClr>
          </a:solidFill>
          <a:ln/>
        </p:spPr>
        <p:txBody>
          <a:bodyPr/>
          <a:lstStyle/>
          <a:p>
            <a:endParaRPr/>
          </a:p>
        </p:txBody>
      </p:sp>
      <p:sp>
        <p:nvSpPr>
          <p:cNvPr id="4" name="Text 1"/>
          <p:cNvSpPr/>
          <p:nvPr/>
        </p:nvSpPr>
        <p:spPr>
          <a:xfrm>
            <a:off x="3069969" y="328611"/>
            <a:ext cx="3004062" cy="548640"/>
          </a:xfrm>
          <a:prstGeom prst="rect">
            <a:avLst/>
          </a:prstGeom>
          <a:noFill/>
          <a:ln/>
        </p:spPr>
        <p:txBody>
          <a:bodyPr wrap="square" rtlCol="0" anchor="ctr"/>
          <a:lstStyle/>
          <a:p>
            <a:pPr marL="0" indent="0" algn="ctr">
              <a:buNone/>
            </a:pPr>
            <a:r>
              <a:rPr lang="en-US" sz="2400" b="1" dirty="0">
                <a:solidFill>
                  <a:srgbClr val="FFFFFF"/>
                </a:solidFill>
              </a:rPr>
              <a:t>REST vs. </a:t>
            </a:r>
            <a:r>
              <a:rPr lang="en-US" sz="2400" b="1" dirty="0" err="1">
                <a:solidFill>
                  <a:srgbClr val="FFFFFF"/>
                </a:solidFill>
              </a:rPr>
              <a:t>GraphQL</a:t>
            </a:r>
            <a:r>
              <a:rPr lang="en-US" sz="2400" b="1" dirty="0">
                <a:solidFill>
                  <a:srgbClr val="FFFFFF"/>
                </a:solidFill>
              </a:rPr>
              <a:t>?</a:t>
            </a:r>
            <a:endParaRPr lang="en-US" sz="2400" dirty="0"/>
          </a:p>
        </p:txBody>
      </p:sp>
      <p:sp>
        <p:nvSpPr>
          <p:cNvPr id="12" name="Text 9"/>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r>
              <a:rPr lang="en-US" sz="600" dirty="0">
                <a:solidFill>
                  <a:srgbClr val="000000"/>
                </a:solidFill>
              </a:rPr>
              <a:t>   </a:t>
            </a:r>
            <a:r>
              <a:rPr lang="en-US" sz="600" u="sng" dirty="0">
                <a:solidFill>
                  <a:srgbClr val="00B0F0"/>
                </a:solidFill>
                <a:hlinkClick r:id="rId6"/>
              </a:rPr>
              <a:t>[3]</a:t>
            </a:r>
            <a:endParaRPr lang="en-US" sz="600" dirty="0"/>
          </a:p>
        </p:txBody>
      </p:sp>
      <p:grpSp>
        <p:nvGrpSpPr>
          <p:cNvPr id="24" name="Group 23">
            <a:extLst>
              <a:ext uri="{FF2B5EF4-FFF2-40B4-BE49-F238E27FC236}">
                <a16:creationId xmlns:a16="http://schemas.microsoft.com/office/drawing/2014/main" id="{25DBA4C4-B838-2FFE-FA5F-E987246E740B}"/>
              </a:ext>
            </a:extLst>
          </p:cNvPr>
          <p:cNvGrpSpPr/>
          <p:nvPr/>
        </p:nvGrpSpPr>
        <p:grpSpPr>
          <a:xfrm>
            <a:off x="1169720" y="951147"/>
            <a:ext cx="6804561" cy="3241206"/>
            <a:chOff x="977659" y="951147"/>
            <a:chExt cx="6804561" cy="3241206"/>
          </a:xfrm>
        </p:grpSpPr>
        <p:grpSp>
          <p:nvGrpSpPr>
            <p:cNvPr id="22" name="Group 21">
              <a:extLst>
                <a:ext uri="{FF2B5EF4-FFF2-40B4-BE49-F238E27FC236}">
                  <a16:creationId xmlns:a16="http://schemas.microsoft.com/office/drawing/2014/main" id="{BBCEF6FE-0003-54C2-8120-89889FE0DE9C}"/>
                </a:ext>
              </a:extLst>
            </p:cNvPr>
            <p:cNvGrpSpPr/>
            <p:nvPr/>
          </p:nvGrpSpPr>
          <p:grpSpPr>
            <a:xfrm>
              <a:off x="4563532" y="951147"/>
              <a:ext cx="3218688" cy="3241206"/>
              <a:chOff x="4571999" y="1163876"/>
              <a:chExt cx="3218688" cy="3241206"/>
            </a:xfrm>
          </p:grpSpPr>
          <p:grpSp>
            <p:nvGrpSpPr>
              <p:cNvPr id="17" name="Group 16">
                <a:extLst>
                  <a:ext uri="{FF2B5EF4-FFF2-40B4-BE49-F238E27FC236}">
                    <a16:creationId xmlns:a16="http://schemas.microsoft.com/office/drawing/2014/main" id="{B4F19B50-4C86-AB1A-D423-A0D757C6638E}"/>
                  </a:ext>
                </a:extLst>
              </p:cNvPr>
              <p:cNvGrpSpPr/>
              <p:nvPr/>
            </p:nvGrpSpPr>
            <p:grpSpPr>
              <a:xfrm>
                <a:off x="5134355" y="2951186"/>
                <a:ext cx="2093976" cy="1453896"/>
                <a:chOff x="4465822" y="1371600"/>
                <a:chExt cx="2093976" cy="1456555"/>
              </a:xfrm>
            </p:grpSpPr>
            <p:sp>
              <p:nvSpPr>
                <p:cNvPr id="8" name="Shape 5"/>
                <p:cNvSpPr/>
                <p:nvPr/>
              </p:nvSpPr>
              <p:spPr>
                <a:xfrm>
                  <a:off x="4465822" y="1371600"/>
                  <a:ext cx="2093976" cy="1456555"/>
                </a:xfrm>
                <a:prstGeom prst="roundRect">
                  <a:avLst>
                    <a:gd name="adj" fmla="val 1852"/>
                  </a:avLst>
                </a:prstGeom>
                <a:solidFill>
                  <a:srgbClr val="0F2142"/>
                </a:solidFill>
                <a:ln w="12700">
                  <a:solidFill>
                    <a:srgbClr val="E10098"/>
                  </a:solidFill>
                  <a:prstDash val="solid"/>
                </a:ln>
              </p:spPr>
              <p:txBody>
                <a:bodyPr/>
                <a:lstStyle/>
                <a:p>
                  <a:endParaRPr/>
                </a:p>
              </p:txBody>
            </p:sp>
            <p:sp>
              <p:nvSpPr>
                <p:cNvPr id="9" name="Text 6"/>
                <p:cNvSpPr/>
                <p:nvPr/>
              </p:nvSpPr>
              <p:spPr>
                <a:xfrm>
                  <a:off x="4566406" y="1603408"/>
                  <a:ext cx="1892808" cy="1224747"/>
                </a:xfrm>
                <a:prstGeom prst="rect">
                  <a:avLst/>
                </a:prstGeom>
                <a:noFill/>
                <a:ln/>
              </p:spPr>
              <p:txBody>
                <a:bodyPr wrap="square" lIns="1270" tIns="1270" rIns="1270" bIns="1270" rtlCol="0" anchor="ctr"/>
                <a:lstStyle/>
                <a:p>
                  <a:pPr marL="0" indent="0">
                    <a:buNone/>
                  </a:pPr>
                  <a:r>
                    <a:rPr lang="en-US" sz="1000" b="1" dirty="0">
                      <a:solidFill>
                        <a:srgbClr val="E10098"/>
                      </a:solidFill>
                      <a:latin typeface="Courier New" pitchFamily="34" charset="0"/>
                      <a:ea typeface="Courier New" pitchFamily="34" charset="-122"/>
                      <a:cs typeface="Courier New" pitchFamily="34" charset="-120"/>
                    </a:rPr>
                    <a:t>query </a:t>
                  </a:r>
                  <a:r>
                    <a:rPr lang="en-US" sz="1000" dirty="0">
                      <a:solidFill>
                        <a:srgbClr val="FFFFFF"/>
                      </a:solidFill>
                      <a:latin typeface="Courier New" pitchFamily="34" charset="0"/>
                      <a:ea typeface="Courier New" pitchFamily="34" charset="-122"/>
                      <a:cs typeface="Courier New" pitchFamily="34" charset="-120"/>
                    </a:rPr>
                    <a:t>{
  order(id: "1") {
    id
    items { id name }
    customer { id name }
  }
}</a:t>
                  </a:r>
                  <a:endParaRPr lang="en-US" sz="1000" dirty="0"/>
                </a:p>
              </p:txBody>
            </p:sp>
            <p:sp>
              <p:nvSpPr>
                <p:cNvPr id="10" name="Text 7"/>
                <p:cNvSpPr/>
                <p:nvPr/>
              </p:nvSpPr>
              <p:spPr>
                <a:xfrm>
                  <a:off x="5023261" y="1371600"/>
                  <a:ext cx="979098" cy="274320"/>
                </a:xfrm>
                <a:prstGeom prst="rect">
                  <a:avLst/>
                </a:prstGeom>
                <a:noFill/>
                <a:ln/>
              </p:spPr>
              <p:txBody>
                <a:bodyPr wrap="square" rtlCol="0" anchor="ctr"/>
                <a:lstStyle/>
                <a:p>
                  <a:pPr marL="0" indent="0" algn="ctr">
                    <a:buNone/>
                  </a:pPr>
                  <a:r>
                    <a:rPr lang="en-US" sz="1600" b="1" dirty="0">
                      <a:solidFill>
                        <a:srgbClr val="00B0F0"/>
                      </a:solidFill>
                    </a:rPr>
                    <a:t>GraphQL</a:t>
                  </a:r>
                  <a:endParaRPr lang="en-US" sz="1600" dirty="0"/>
                </a:p>
              </p:txBody>
            </p:sp>
          </p:grpSp>
          <p:sp>
            <p:nvSpPr>
              <p:cNvPr id="20" name="Text 2">
                <a:extLst>
                  <a:ext uri="{FF2B5EF4-FFF2-40B4-BE49-F238E27FC236}">
                    <a16:creationId xmlns:a16="http://schemas.microsoft.com/office/drawing/2014/main" id="{5E39EB20-54BD-B68A-22D8-63E580127E65}"/>
                  </a:ext>
                </a:extLst>
              </p:cNvPr>
              <p:cNvSpPr/>
              <p:nvPr/>
            </p:nvSpPr>
            <p:spPr>
              <a:xfrm>
                <a:off x="4571999" y="1163876"/>
                <a:ext cx="3218688" cy="1595255"/>
              </a:xfrm>
              <a:prstGeom prst="rect">
                <a:avLst/>
              </a:prstGeom>
              <a:noFill/>
              <a:ln/>
            </p:spPr>
            <p:txBody>
              <a:bodyPr wrap="square" lIns="1270" tIns="1270" rIns="1270" bIns="1270" rtlCol="0" anchor="ctr"/>
              <a:lstStyle/>
              <a:p>
                <a:pPr marL="0" indent="0">
                  <a:lnSpc>
                    <a:spcPct val="150000"/>
                  </a:lnSpc>
                  <a:buNone/>
                </a:pPr>
                <a:r>
                  <a:rPr lang="en-US" sz="1600" b="1" dirty="0" err="1">
                    <a:solidFill>
                      <a:srgbClr val="E20F98"/>
                    </a:solidFill>
                  </a:rPr>
                  <a:t>GraphQL</a:t>
                </a:r>
                <a:r>
                  <a:rPr lang="en-US" sz="1600" b="1" dirty="0">
                    <a:solidFill>
                      <a:srgbClr val="E20F98"/>
                    </a:solidFill>
                  </a:rPr>
                  <a:t> Features</a:t>
                </a:r>
              </a:p>
              <a:p>
                <a:pPr marL="171450" indent="-171450">
                  <a:lnSpc>
                    <a:spcPct val="150000"/>
                  </a:lnSpc>
                  <a:buFont typeface="Arial" panose="020B0604020202020204" pitchFamily="34" charset="0"/>
                  <a:buChar char="•"/>
                </a:pPr>
                <a:r>
                  <a:rPr lang="en-US" sz="1200" dirty="0">
                    <a:solidFill>
                      <a:srgbClr val="F5F5F5"/>
                    </a:solidFill>
                  </a:rPr>
                  <a:t>Single endpoint for all queries &amp; mutations</a:t>
                </a:r>
              </a:p>
              <a:p>
                <a:pPr marL="171450" indent="-171450">
                  <a:lnSpc>
                    <a:spcPct val="150000"/>
                  </a:lnSpc>
                  <a:buFont typeface="Arial" panose="020B0604020202020204" pitchFamily="34" charset="0"/>
                  <a:buChar char="•"/>
                </a:pPr>
                <a:r>
                  <a:rPr lang="en-US" sz="1200" dirty="0">
                    <a:solidFill>
                      <a:srgbClr val="F5F5F5"/>
                    </a:solidFill>
                  </a:rPr>
                  <a:t>Partial successes with clear error objects </a:t>
                </a:r>
              </a:p>
              <a:p>
                <a:pPr marL="171450" indent="-171450">
                  <a:lnSpc>
                    <a:spcPct val="150000"/>
                  </a:lnSpc>
                  <a:buFont typeface="Arial" panose="020B0604020202020204" pitchFamily="34" charset="0"/>
                  <a:buChar char="•"/>
                </a:pPr>
                <a:r>
                  <a:rPr lang="en-US" sz="1200" dirty="0">
                    <a:solidFill>
                      <a:srgbClr val="F5F5F5"/>
                    </a:solidFill>
                  </a:rPr>
                  <a:t>Fetch exactly what you need &amp; batch operations</a:t>
                </a:r>
                <a:endParaRPr lang="en-US" sz="1600" dirty="0"/>
              </a:p>
            </p:txBody>
          </p:sp>
        </p:grpSp>
        <p:grpSp>
          <p:nvGrpSpPr>
            <p:cNvPr id="23" name="Group 22">
              <a:extLst>
                <a:ext uri="{FF2B5EF4-FFF2-40B4-BE49-F238E27FC236}">
                  <a16:creationId xmlns:a16="http://schemas.microsoft.com/office/drawing/2014/main" id="{8E351DD0-6553-584C-AAEF-241298401DEE}"/>
                </a:ext>
              </a:extLst>
            </p:cNvPr>
            <p:cNvGrpSpPr/>
            <p:nvPr/>
          </p:nvGrpSpPr>
          <p:grpSpPr>
            <a:xfrm>
              <a:off x="977659" y="951147"/>
              <a:ext cx="3218688" cy="3241206"/>
              <a:chOff x="969192" y="1163876"/>
              <a:chExt cx="3218688" cy="3241206"/>
            </a:xfrm>
          </p:grpSpPr>
          <p:grpSp>
            <p:nvGrpSpPr>
              <p:cNvPr id="18" name="Group 17">
                <a:extLst>
                  <a:ext uri="{FF2B5EF4-FFF2-40B4-BE49-F238E27FC236}">
                    <a16:creationId xmlns:a16="http://schemas.microsoft.com/office/drawing/2014/main" id="{A139A97F-3409-8B23-CE43-928725DF9B0C}"/>
                  </a:ext>
                </a:extLst>
              </p:cNvPr>
              <p:cNvGrpSpPr/>
              <p:nvPr/>
            </p:nvGrpSpPr>
            <p:grpSpPr>
              <a:xfrm>
                <a:off x="1531548" y="2951186"/>
                <a:ext cx="2093976" cy="1453896"/>
                <a:chOff x="1432398" y="1371599"/>
                <a:chExt cx="2093976" cy="1456556"/>
              </a:xfrm>
            </p:grpSpPr>
            <p:sp>
              <p:nvSpPr>
                <p:cNvPr id="5" name="Shape 2"/>
                <p:cNvSpPr/>
                <p:nvPr/>
              </p:nvSpPr>
              <p:spPr>
                <a:xfrm>
                  <a:off x="1432398" y="1371600"/>
                  <a:ext cx="2093976" cy="1456555"/>
                </a:xfrm>
                <a:prstGeom prst="roundRect">
                  <a:avLst>
                    <a:gd name="adj" fmla="val 1852"/>
                  </a:avLst>
                </a:prstGeom>
                <a:solidFill>
                  <a:srgbClr val="0F2142"/>
                </a:solidFill>
                <a:ln w="12700">
                  <a:solidFill>
                    <a:srgbClr val="E10098"/>
                  </a:solidFill>
                  <a:prstDash val="solid"/>
                </a:ln>
              </p:spPr>
              <p:txBody>
                <a:bodyPr/>
                <a:lstStyle/>
                <a:p>
                  <a:endParaRPr/>
                </a:p>
              </p:txBody>
            </p:sp>
            <p:sp>
              <p:nvSpPr>
                <p:cNvPr id="6" name="Text 3"/>
                <p:cNvSpPr/>
                <p:nvPr/>
              </p:nvSpPr>
              <p:spPr>
                <a:xfrm>
                  <a:off x="1551829" y="1476942"/>
                  <a:ext cx="1855115" cy="1245870"/>
                </a:xfrm>
                <a:prstGeom prst="rect">
                  <a:avLst/>
                </a:prstGeom>
                <a:noFill/>
                <a:ln/>
              </p:spPr>
              <p:txBody>
                <a:bodyPr wrap="square" lIns="1270" tIns="1270" rIns="1270" bIns="127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GET /order/1
GET /order/1/items
GET /order/1/customer</a:t>
                  </a:r>
                  <a:endParaRPr lang="en-US" sz="1000" dirty="0"/>
                </a:p>
              </p:txBody>
            </p:sp>
            <p:sp>
              <p:nvSpPr>
                <p:cNvPr id="7" name="Text 4"/>
                <p:cNvSpPr/>
                <p:nvPr/>
              </p:nvSpPr>
              <p:spPr>
                <a:xfrm>
                  <a:off x="1991787" y="1371599"/>
                  <a:ext cx="975198" cy="274320"/>
                </a:xfrm>
                <a:prstGeom prst="rect">
                  <a:avLst/>
                </a:prstGeom>
                <a:noFill/>
                <a:ln/>
              </p:spPr>
              <p:txBody>
                <a:bodyPr wrap="square" rtlCol="0" anchor="ctr"/>
                <a:lstStyle/>
                <a:p>
                  <a:pPr marL="0" indent="0" algn="ctr">
                    <a:buNone/>
                  </a:pPr>
                  <a:r>
                    <a:rPr lang="en-US" sz="1600" b="1" dirty="0">
                      <a:solidFill>
                        <a:srgbClr val="00B0F0"/>
                      </a:solidFill>
                    </a:rPr>
                    <a:t>REST API</a:t>
                  </a:r>
                  <a:endParaRPr lang="en-US" sz="1600" dirty="0"/>
                </a:p>
              </p:txBody>
            </p:sp>
          </p:grpSp>
          <p:sp>
            <p:nvSpPr>
              <p:cNvPr id="21" name="Text 3">
                <a:extLst>
                  <a:ext uri="{FF2B5EF4-FFF2-40B4-BE49-F238E27FC236}">
                    <a16:creationId xmlns:a16="http://schemas.microsoft.com/office/drawing/2014/main" id="{918A53E1-59F8-A529-5B69-594614FF48D1}"/>
                  </a:ext>
                </a:extLst>
              </p:cNvPr>
              <p:cNvSpPr/>
              <p:nvPr/>
            </p:nvSpPr>
            <p:spPr>
              <a:xfrm>
                <a:off x="969192" y="1163876"/>
                <a:ext cx="3218688" cy="1595255"/>
              </a:xfrm>
              <a:prstGeom prst="rect">
                <a:avLst/>
              </a:prstGeom>
              <a:noFill/>
              <a:ln/>
            </p:spPr>
            <p:txBody>
              <a:bodyPr wrap="square" lIns="1270" tIns="1270" rIns="1270" bIns="1270" rtlCol="0" anchor="ctr"/>
              <a:lstStyle/>
              <a:p>
                <a:pPr marL="0" indent="0" algn="l">
                  <a:lnSpc>
                    <a:spcPct val="150000"/>
                  </a:lnSpc>
                  <a:buNone/>
                </a:pPr>
                <a:r>
                  <a:rPr lang="en-US" sz="1600" b="1" dirty="0">
                    <a:solidFill>
                      <a:srgbClr val="E20F98"/>
                    </a:solidFill>
                  </a:rPr>
                  <a:t>REST Characteristics</a:t>
                </a:r>
                <a:endParaRPr lang="en-US" sz="1600" b="1" dirty="0">
                  <a:solidFill>
                    <a:srgbClr val="003087"/>
                  </a:solidFill>
                </a:endParaRPr>
              </a:p>
              <a:p>
                <a:pPr marL="171450" indent="-171450" algn="l">
                  <a:lnSpc>
                    <a:spcPct val="150000"/>
                  </a:lnSpc>
                  <a:buFont typeface="Arial" panose="020B0604020202020204" pitchFamily="34" charset="0"/>
                  <a:buChar char="•"/>
                </a:pPr>
                <a:r>
                  <a:rPr lang="en-US" sz="1200" dirty="0">
                    <a:solidFill>
                      <a:srgbClr val="F5F5F5"/>
                    </a:solidFill>
                  </a:rPr>
                  <a:t>Multiple endpoints per resource
Relies on HTTP verbs &amp; status codes
Over-fetching &amp; under-fetching issues</a:t>
                </a:r>
                <a:endParaRPr lang="en-US" sz="1600" dirty="0"/>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Image 0" descr="/home/oai/share/50e89b73-047e-436e-b032-0e33c81c2bcf.png">
            <a:extLst>
              <a:ext uri="{FF2B5EF4-FFF2-40B4-BE49-F238E27FC236}">
                <a16:creationId xmlns:a16="http://schemas.microsoft.com/office/drawing/2014/main" id="{BFE586D3-6894-F389-31BA-D25D3FEA9F45}"/>
              </a:ext>
            </a:extLst>
          </p:cNvPr>
          <p:cNvPicPr>
            <a:picLocks noChangeAspect="1"/>
          </p:cNvPicPr>
          <p:nvPr/>
        </p:nvPicPr>
        <p:blipFill>
          <a:blip r:embed="rId3"/>
          <a:srcRect t="21875" b="21875"/>
          <a:stretch/>
        </p:blipFill>
        <p:spPr>
          <a:xfrm>
            <a:off x="0" y="0"/>
            <a:ext cx="9144000" cy="5143500"/>
          </a:xfrm>
          <a:prstGeom prst="rect">
            <a:avLst/>
          </a:prstGeom>
        </p:spPr>
      </p:pic>
      <p:sp>
        <p:nvSpPr>
          <p:cNvPr id="26" name="Shape 0">
            <a:extLst>
              <a:ext uri="{FF2B5EF4-FFF2-40B4-BE49-F238E27FC236}">
                <a16:creationId xmlns:a16="http://schemas.microsoft.com/office/drawing/2014/main" id="{48644B5C-B5D2-9504-F946-F02B2BA61FDC}"/>
              </a:ext>
            </a:extLst>
          </p:cNvPr>
          <p:cNvSpPr/>
          <p:nvPr/>
        </p:nvSpPr>
        <p:spPr>
          <a:xfrm>
            <a:off x="0" y="0"/>
            <a:ext cx="9144000" cy="5143500"/>
          </a:xfrm>
          <a:prstGeom prst="rect">
            <a:avLst/>
          </a:prstGeom>
          <a:solidFill>
            <a:srgbClr val="000000">
              <a:alpha val="60000"/>
            </a:srgbClr>
          </a:solidFill>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Payment Flow &amp; Key Concepts</a:t>
            </a:r>
            <a:endParaRPr lang="en-US" sz="2600" dirty="0"/>
          </a:p>
        </p:txBody>
      </p:sp>
      <p:sp>
        <p:nvSpPr>
          <p:cNvPr id="5" name="Shape 2"/>
          <p:cNvSpPr/>
          <p:nvPr/>
        </p:nvSpPr>
        <p:spPr>
          <a:xfrm>
            <a:off x="457200" y="1097280"/>
            <a:ext cx="1920240" cy="1645920"/>
          </a:xfrm>
          <a:prstGeom prst="roundRect">
            <a:avLst>
              <a:gd name="adj" fmla="val 5556"/>
            </a:avLst>
          </a:prstGeom>
          <a:solidFill>
            <a:srgbClr val="0F1A2B"/>
          </a:solidFill>
          <a:ln w="12700">
            <a:solidFill>
              <a:srgbClr val="224C7A"/>
            </a:solidFill>
            <a:prstDash val="solid"/>
          </a:ln>
        </p:spPr>
        <p:txBody>
          <a:bodyPr/>
          <a:lstStyle/>
          <a:p>
            <a:endParaRPr/>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1234440"/>
            <a:ext cx="365760" cy="365760"/>
          </a:xfrm>
          <a:prstGeom prst="rect">
            <a:avLst/>
          </a:prstGeom>
        </p:spPr>
      </p:pic>
      <p:sp>
        <p:nvSpPr>
          <p:cNvPr id="7" name="Text 3"/>
          <p:cNvSpPr/>
          <p:nvPr/>
        </p:nvSpPr>
        <p:spPr>
          <a:xfrm>
            <a:off x="960120" y="1207008"/>
            <a:ext cx="1417320" cy="365760"/>
          </a:xfrm>
          <a:prstGeom prst="rect">
            <a:avLst/>
          </a:prstGeom>
          <a:noFill/>
          <a:ln/>
        </p:spPr>
        <p:txBody>
          <a:bodyPr wrap="square" rtlCol="0" anchor="ctr"/>
          <a:lstStyle/>
          <a:p>
            <a:pPr marL="0" indent="0">
              <a:buNone/>
            </a:pPr>
            <a:r>
              <a:rPr lang="en-US" sz="1200" b="1" dirty="0">
                <a:solidFill>
                  <a:srgbClr val="E10098"/>
                </a:solidFill>
              </a:rPr>
              <a:t>Request Client Token</a:t>
            </a:r>
            <a:endParaRPr lang="en-US" sz="1200" dirty="0"/>
          </a:p>
        </p:txBody>
      </p:sp>
      <p:sp>
        <p:nvSpPr>
          <p:cNvPr id="8" name="Text 4"/>
          <p:cNvSpPr/>
          <p:nvPr/>
        </p:nvSpPr>
        <p:spPr>
          <a:xfrm>
            <a:off x="548640" y="1600200"/>
            <a:ext cx="1737360" cy="1005840"/>
          </a:xfrm>
          <a:prstGeom prst="rect">
            <a:avLst/>
          </a:prstGeom>
          <a:noFill/>
          <a:ln/>
        </p:spPr>
        <p:txBody>
          <a:bodyPr wrap="square" rtlCol="0" anchor="ctr"/>
          <a:lstStyle/>
          <a:p>
            <a:pPr marL="0" indent="0">
              <a:buNone/>
            </a:pPr>
            <a:r>
              <a:rPr lang="en-US" sz="900" dirty="0">
                <a:solidFill>
                  <a:srgbClr val="F5F5F5"/>
                </a:solidFill>
              </a:rPr>
              <a:t>Server requests a client token from Braintree</a:t>
            </a:r>
            <a:endParaRPr lang="en-US" sz="900" dirty="0"/>
          </a:p>
        </p:txBody>
      </p:sp>
      <p:sp>
        <p:nvSpPr>
          <p:cNvPr id="9" name="Shape 5"/>
          <p:cNvSpPr/>
          <p:nvPr/>
        </p:nvSpPr>
        <p:spPr>
          <a:xfrm>
            <a:off x="2514600" y="1097280"/>
            <a:ext cx="1920240" cy="1645920"/>
          </a:xfrm>
          <a:prstGeom prst="roundRect">
            <a:avLst>
              <a:gd name="adj" fmla="val 5556"/>
            </a:avLst>
          </a:prstGeom>
          <a:solidFill>
            <a:srgbClr val="0F1A2B"/>
          </a:solidFill>
          <a:ln w="12700">
            <a:solidFill>
              <a:srgbClr val="224C7A"/>
            </a:solidFill>
            <a:prstDash val="solid"/>
          </a:ln>
        </p:spPr>
        <p:txBody>
          <a:bodyPr/>
          <a:lstStyle/>
          <a:p>
            <a:endParaRPr/>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234440"/>
            <a:ext cx="365760" cy="365760"/>
          </a:xfrm>
          <a:prstGeom prst="rect">
            <a:avLst/>
          </a:prstGeom>
        </p:spPr>
      </p:pic>
      <p:sp>
        <p:nvSpPr>
          <p:cNvPr id="11" name="Text 6"/>
          <p:cNvSpPr/>
          <p:nvPr/>
        </p:nvSpPr>
        <p:spPr>
          <a:xfrm>
            <a:off x="3017520" y="1207008"/>
            <a:ext cx="1417320" cy="365760"/>
          </a:xfrm>
          <a:prstGeom prst="rect">
            <a:avLst/>
          </a:prstGeom>
          <a:noFill/>
          <a:ln/>
        </p:spPr>
        <p:txBody>
          <a:bodyPr wrap="square" rtlCol="0" anchor="ctr"/>
          <a:lstStyle/>
          <a:p>
            <a:pPr marL="0" indent="0">
              <a:buNone/>
            </a:pPr>
            <a:r>
              <a:rPr lang="en-US" sz="1200" b="1" dirty="0">
                <a:solidFill>
                  <a:srgbClr val="E10098"/>
                </a:solidFill>
              </a:rPr>
              <a:t>Collect Payment Info</a:t>
            </a:r>
            <a:endParaRPr lang="en-US" sz="1200" dirty="0"/>
          </a:p>
        </p:txBody>
      </p:sp>
      <p:sp>
        <p:nvSpPr>
          <p:cNvPr id="12" name="Text 7"/>
          <p:cNvSpPr/>
          <p:nvPr/>
        </p:nvSpPr>
        <p:spPr>
          <a:xfrm>
            <a:off x="2606040" y="1600200"/>
            <a:ext cx="1737360" cy="1005840"/>
          </a:xfrm>
          <a:prstGeom prst="rect">
            <a:avLst/>
          </a:prstGeom>
          <a:noFill/>
          <a:ln/>
        </p:spPr>
        <p:txBody>
          <a:bodyPr wrap="square" rtlCol="0" anchor="ctr"/>
          <a:lstStyle/>
          <a:p>
            <a:pPr marL="0" indent="0">
              <a:buNone/>
            </a:pPr>
            <a:r>
              <a:rPr lang="en-US" sz="900" dirty="0">
                <a:solidFill>
                  <a:srgbClr val="F5F5F5"/>
                </a:solidFill>
              </a:rPr>
              <a:t>Client SDK collects details and returns a single‑use nonce</a:t>
            </a:r>
            <a:endParaRPr lang="en-US" sz="900" dirty="0"/>
          </a:p>
        </p:txBody>
      </p:sp>
      <p:sp>
        <p:nvSpPr>
          <p:cNvPr id="13" name="Shape 8"/>
          <p:cNvSpPr/>
          <p:nvPr/>
        </p:nvSpPr>
        <p:spPr>
          <a:xfrm>
            <a:off x="4572000" y="1097280"/>
            <a:ext cx="1920240" cy="1645920"/>
          </a:xfrm>
          <a:prstGeom prst="roundRect">
            <a:avLst>
              <a:gd name="adj" fmla="val 5556"/>
            </a:avLst>
          </a:prstGeom>
          <a:solidFill>
            <a:srgbClr val="0F1A2B"/>
          </a:solidFill>
          <a:ln w="12700">
            <a:solidFill>
              <a:srgbClr val="224C7A"/>
            </a:solidFill>
            <a:prstDash val="solid"/>
          </a:ln>
        </p:spPr>
        <p:txBody>
          <a:bodyPr/>
          <a:lstStyle/>
          <a:p>
            <a:endParaRPr/>
          </a:p>
        </p:txBody>
      </p:sp>
      <p:pic>
        <p:nvPicPr>
          <p:cNvPr id="1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63440" y="1234440"/>
            <a:ext cx="365760" cy="365760"/>
          </a:xfrm>
          <a:prstGeom prst="rect">
            <a:avLst/>
          </a:prstGeom>
        </p:spPr>
      </p:pic>
      <p:sp>
        <p:nvSpPr>
          <p:cNvPr id="15" name="Text 9"/>
          <p:cNvSpPr/>
          <p:nvPr/>
        </p:nvSpPr>
        <p:spPr>
          <a:xfrm>
            <a:off x="5074920" y="1207008"/>
            <a:ext cx="1417320" cy="365760"/>
          </a:xfrm>
          <a:prstGeom prst="rect">
            <a:avLst/>
          </a:prstGeom>
          <a:noFill/>
          <a:ln/>
        </p:spPr>
        <p:txBody>
          <a:bodyPr wrap="square" rtlCol="0" anchor="ctr"/>
          <a:lstStyle/>
          <a:p>
            <a:pPr marL="0" indent="0">
              <a:buNone/>
            </a:pPr>
            <a:r>
              <a:rPr lang="en-US" sz="1200" b="1" dirty="0">
                <a:solidFill>
                  <a:srgbClr val="E10098"/>
                </a:solidFill>
              </a:rPr>
              <a:t>Vault or Charge</a:t>
            </a:r>
            <a:endParaRPr lang="en-US" sz="1200" dirty="0"/>
          </a:p>
        </p:txBody>
      </p:sp>
      <p:sp>
        <p:nvSpPr>
          <p:cNvPr id="16" name="Text 10"/>
          <p:cNvSpPr/>
          <p:nvPr/>
        </p:nvSpPr>
        <p:spPr>
          <a:xfrm>
            <a:off x="4663440" y="1600200"/>
            <a:ext cx="1737360" cy="1005840"/>
          </a:xfrm>
          <a:prstGeom prst="rect">
            <a:avLst/>
          </a:prstGeom>
          <a:noFill/>
          <a:ln/>
        </p:spPr>
        <p:txBody>
          <a:bodyPr wrap="square" rtlCol="0" anchor="ctr"/>
          <a:lstStyle/>
          <a:p>
            <a:pPr marL="0" indent="0">
              <a:buNone/>
            </a:pPr>
            <a:r>
              <a:rPr lang="en-US" sz="900" dirty="0">
                <a:solidFill>
                  <a:srgbClr val="F5F5F5"/>
                </a:solidFill>
              </a:rPr>
              <a:t>Server calls GraphQL to vault or charge the payment method</a:t>
            </a:r>
            <a:endParaRPr lang="en-US" sz="900" dirty="0"/>
          </a:p>
        </p:txBody>
      </p:sp>
      <p:sp>
        <p:nvSpPr>
          <p:cNvPr id="17" name="Shape 11"/>
          <p:cNvSpPr/>
          <p:nvPr/>
        </p:nvSpPr>
        <p:spPr>
          <a:xfrm>
            <a:off x="6629400" y="1097280"/>
            <a:ext cx="1920240" cy="1645920"/>
          </a:xfrm>
          <a:prstGeom prst="roundRect">
            <a:avLst>
              <a:gd name="adj" fmla="val 5556"/>
            </a:avLst>
          </a:prstGeom>
          <a:solidFill>
            <a:srgbClr val="0F1A2B"/>
          </a:solidFill>
          <a:ln w="12700">
            <a:solidFill>
              <a:srgbClr val="224C7A"/>
            </a:solidFill>
            <a:prstDash val="solid"/>
          </a:ln>
        </p:spPr>
        <p:txBody>
          <a:bodyPr/>
          <a:lstStyle/>
          <a:p>
            <a:endParaRPr/>
          </a:p>
        </p:txBody>
      </p:sp>
      <p:pic>
        <p:nvPicPr>
          <p:cNvPr id="18"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20840" y="1234440"/>
            <a:ext cx="365760" cy="365760"/>
          </a:xfrm>
          <a:prstGeom prst="rect">
            <a:avLst/>
          </a:prstGeom>
        </p:spPr>
      </p:pic>
      <p:sp>
        <p:nvSpPr>
          <p:cNvPr id="19" name="Text 12"/>
          <p:cNvSpPr/>
          <p:nvPr/>
        </p:nvSpPr>
        <p:spPr>
          <a:xfrm>
            <a:off x="7132320" y="1207008"/>
            <a:ext cx="1417320" cy="365760"/>
          </a:xfrm>
          <a:prstGeom prst="rect">
            <a:avLst/>
          </a:prstGeom>
          <a:noFill/>
          <a:ln/>
        </p:spPr>
        <p:txBody>
          <a:bodyPr wrap="square" rtlCol="0" anchor="ctr"/>
          <a:lstStyle/>
          <a:p>
            <a:pPr marL="0" indent="0">
              <a:buNone/>
            </a:pPr>
            <a:r>
              <a:rPr lang="en-US" sz="1200" b="1" dirty="0">
                <a:solidFill>
                  <a:srgbClr val="E10098"/>
                </a:solidFill>
              </a:rPr>
              <a:t>Transaction</a:t>
            </a:r>
            <a:endParaRPr lang="en-US" sz="1200" dirty="0"/>
          </a:p>
        </p:txBody>
      </p:sp>
      <p:sp>
        <p:nvSpPr>
          <p:cNvPr id="20" name="Text 13"/>
          <p:cNvSpPr/>
          <p:nvPr/>
        </p:nvSpPr>
        <p:spPr>
          <a:xfrm>
            <a:off x="6720840" y="1600200"/>
            <a:ext cx="1737360" cy="1005840"/>
          </a:xfrm>
          <a:prstGeom prst="rect">
            <a:avLst/>
          </a:prstGeom>
          <a:noFill/>
          <a:ln/>
        </p:spPr>
        <p:txBody>
          <a:bodyPr wrap="square" rtlCol="0" anchor="ctr"/>
          <a:lstStyle/>
          <a:p>
            <a:pPr marL="0" indent="0">
              <a:buNone/>
            </a:pPr>
            <a:r>
              <a:rPr lang="en-US" sz="900" dirty="0">
                <a:solidFill>
                  <a:srgbClr val="F5F5F5"/>
                </a:solidFill>
              </a:rPr>
              <a:t>Creates a Transaction that moves money and tracks status</a:t>
            </a:r>
            <a:endParaRPr lang="en-US" sz="900" dirty="0"/>
          </a:p>
        </p:txBody>
      </p:sp>
      <p:sp>
        <p:nvSpPr>
          <p:cNvPr id="21" name="Text 14"/>
          <p:cNvSpPr/>
          <p:nvPr/>
        </p:nvSpPr>
        <p:spPr>
          <a:xfrm>
            <a:off x="457200" y="3017520"/>
            <a:ext cx="8686800" cy="1188720"/>
          </a:xfrm>
          <a:prstGeom prst="rect">
            <a:avLst/>
          </a:prstGeom>
          <a:noFill/>
          <a:ln/>
        </p:spPr>
        <p:txBody>
          <a:bodyPr wrap="square" rtlCol="0" anchor="ctr"/>
          <a:lstStyle/>
          <a:p>
            <a:pPr marL="0" indent="0" algn="l">
              <a:buNone/>
            </a:pPr>
            <a:r>
              <a:rPr lang="en-US" sz="1400" b="1" dirty="0">
                <a:solidFill>
                  <a:srgbClr val="003087"/>
                </a:solidFill>
              </a:rPr>
              <a:t>Payment Methods:</a:t>
            </a:r>
            <a:r>
              <a:rPr lang="en-US" sz="1000" dirty="0">
                <a:solidFill>
                  <a:srgbClr val="F5F5F5"/>
                </a:solidFill>
              </a:rPr>
              <a:t> credit cards, PayPal, Venmo, bank accounts; each returns details like expiration or email.
</a:t>
            </a:r>
            <a:r>
              <a:rPr lang="en-US" sz="1400" b="1" dirty="0">
                <a:solidFill>
                  <a:srgbClr val="003087"/>
                </a:solidFill>
              </a:rPr>
              <a:t>Vault:</a:t>
            </a:r>
            <a:r>
              <a:rPr lang="en-US" sz="1000" dirty="0">
                <a:solidFill>
                  <a:srgbClr val="F5F5F5"/>
                </a:solidFill>
              </a:rPr>
              <a:t> stores payment methods long‑term; single‑use nonces expire after 3h; vaulting converts them to multi‑use IDs.
</a:t>
            </a:r>
            <a:r>
              <a:rPr lang="en-US" sz="1400" b="1" dirty="0">
                <a:solidFill>
                  <a:srgbClr val="003087"/>
                </a:solidFill>
              </a:rPr>
              <a:t>Customers:</a:t>
            </a:r>
            <a:r>
              <a:rPr lang="en-US" sz="1000" dirty="0">
                <a:solidFill>
                  <a:srgbClr val="F5F5F5"/>
                </a:solidFill>
              </a:rPr>
              <a:t> optional objects grouping methods &amp; transactions; cannot transfer a payment method to another customer.</a:t>
            </a:r>
            <a:endParaRPr lang="en-US" sz="1400" dirty="0"/>
          </a:p>
        </p:txBody>
      </p:sp>
      <p:sp>
        <p:nvSpPr>
          <p:cNvPr id="22" name="Text 15"/>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12">
                  <a:extLst>
                    <a:ext uri="{A12FA001-AC4F-418D-AE19-62706E023703}">
                      <ahyp:hlinkClr xmlns:ahyp="http://schemas.microsoft.com/office/drawing/2018/hyperlinkcolor" val="tx"/>
                    </a:ext>
                  </a:extLst>
                </a:hlinkClick>
              </a:rPr>
              <a:t>[3]</a:t>
            </a:r>
            <a:r>
              <a:rPr lang="en-US" sz="600" u="sng" dirty="0">
                <a:solidFill>
                  <a:srgbClr val="003087"/>
                </a:solidFill>
                <a:hlinkClick r:id="rId13">
                  <a:extLst>
                    <a:ext uri="{A12FA001-AC4F-418D-AE19-62706E023703}">
                      <ahyp:hlinkClr xmlns:ahyp="http://schemas.microsoft.com/office/drawing/2018/hyperlinkcolor" val="tx"/>
                    </a:ext>
                  </a:extLst>
                </a:hlinkClick>
              </a:rPr>
              <a:t>[4]</a:t>
            </a:r>
            <a:r>
              <a:rPr lang="en-US" sz="600" u="sng" dirty="0">
                <a:solidFill>
                  <a:srgbClr val="003087"/>
                </a:solidFill>
                <a:hlinkClick r:id="rId14">
                  <a:extLst>
                    <a:ext uri="{A12FA001-AC4F-418D-AE19-62706E023703}">
                      <ahyp:hlinkClr xmlns:ahyp="http://schemas.microsoft.com/office/drawing/2018/hyperlinkcolor" val="tx"/>
                    </a:ext>
                  </a:extLst>
                </a:hlinkClick>
              </a:rPr>
              <a:t>[5]</a:t>
            </a:r>
            <a:r>
              <a:rPr lang="en-US" sz="600" u="sng" dirty="0">
                <a:solidFill>
                  <a:srgbClr val="003087"/>
                </a:solidFill>
                <a:hlinkClick r:id="rId15">
                  <a:extLst>
                    <a:ext uri="{A12FA001-AC4F-418D-AE19-62706E023703}">
                      <ahyp:hlinkClr xmlns:ahyp="http://schemas.microsoft.com/office/drawing/2018/hyperlinkcolor" val="tx"/>
                    </a:ext>
                  </a:extLst>
                </a:hlinkClick>
              </a:rPr>
              <a:t>[6]</a:t>
            </a:r>
            <a:r>
              <a:rPr lang="en-US" sz="600" u="sng" dirty="0">
                <a:solidFill>
                  <a:srgbClr val="003087"/>
                </a:solidFill>
                <a:hlinkClick r:id="rId16">
                  <a:extLst>
                    <a:ext uri="{A12FA001-AC4F-418D-AE19-62706E023703}">
                      <ahyp:hlinkClr xmlns:ahyp="http://schemas.microsoft.com/office/drawing/2018/hyperlinkcolor" val="tx"/>
                    </a:ext>
                  </a:extLst>
                </a:hlinkClick>
              </a:rPr>
              <a:t>[7]</a:t>
            </a:r>
            <a:r>
              <a:rPr lang="en-US" sz="600" u="sng" dirty="0">
                <a:solidFill>
                  <a:srgbClr val="003087"/>
                </a:solidFill>
                <a:hlinkClick r:id="rId17">
                  <a:extLst>
                    <a:ext uri="{A12FA001-AC4F-418D-AE19-62706E023703}">
                      <ahyp:hlinkClr xmlns:ahyp="http://schemas.microsoft.com/office/drawing/2018/hyperlinkcolor" val="tx"/>
                    </a:ext>
                  </a:extLst>
                </a:hlinkClick>
              </a:rPr>
              <a:t>[8]</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p:spPr>
        <p:txBody>
          <a:bodyPr/>
          <a:lstStyle/>
          <a:p>
            <a:endParaRPr/>
          </a:p>
        </p:txBody>
      </p:sp>
      <p:sp>
        <p:nvSpPr>
          <p:cNvPr id="4" name="Text 1"/>
          <p:cNvSpPr/>
          <p:nvPr/>
        </p:nvSpPr>
        <p:spPr>
          <a:xfrm>
            <a:off x="457200" y="457200"/>
            <a:ext cx="8229600" cy="640080"/>
          </a:xfrm>
          <a:prstGeom prst="rect">
            <a:avLst/>
          </a:prstGeom>
          <a:noFill/>
          <a:ln/>
        </p:spPr>
        <p:txBody>
          <a:bodyPr wrap="square" rtlCol="0" anchor="ctr"/>
          <a:lstStyle/>
          <a:p>
            <a:pPr marL="0" indent="0">
              <a:buNone/>
            </a:pPr>
            <a:r>
              <a:rPr lang="en-US" sz="2400" b="1" dirty="0">
                <a:solidFill>
                  <a:srgbClr val="FFFFFF"/>
                </a:solidFill>
              </a:rPr>
              <a:t>Getting Started &amp; Authentication</a:t>
            </a:r>
            <a:endParaRPr lang="en-US" sz="2400" dirty="0"/>
          </a:p>
        </p:txBody>
      </p:sp>
      <p:sp>
        <p:nvSpPr>
          <p:cNvPr id="5" name="Shape 2"/>
          <p:cNvSpPr/>
          <p:nvPr/>
        </p:nvSpPr>
        <p:spPr>
          <a:xfrm>
            <a:off x="457200" y="1280160"/>
            <a:ext cx="4023360" cy="2286000"/>
          </a:xfrm>
          <a:prstGeom prst="roundRect">
            <a:avLst>
              <a:gd name="adj" fmla="val 2000"/>
            </a:avLst>
          </a:prstGeom>
          <a:solidFill>
            <a:srgbClr val="0F2142"/>
          </a:solidFill>
          <a:ln w="12700">
            <a:solidFill>
              <a:srgbClr val="E10098"/>
            </a:solidFill>
            <a:prstDash val="solid"/>
          </a:ln>
        </p:spPr>
        <p:txBody>
          <a:bodyPr/>
          <a:lstStyle/>
          <a:p>
            <a:endParaRPr/>
          </a:p>
        </p:txBody>
      </p:sp>
      <p:sp>
        <p:nvSpPr>
          <p:cNvPr id="6" name="Text 3"/>
          <p:cNvSpPr/>
          <p:nvPr/>
        </p:nvSpPr>
        <p:spPr>
          <a:xfrm>
            <a:off x="548640" y="1325880"/>
            <a:ext cx="3840480" cy="320040"/>
          </a:xfrm>
          <a:prstGeom prst="rect">
            <a:avLst/>
          </a:prstGeom>
          <a:noFill/>
          <a:ln/>
        </p:spPr>
        <p:txBody>
          <a:bodyPr wrap="square" rtlCol="0" anchor="ctr"/>
          <a:lstStyle/>
          <a:p>
            <a:pPr marL="0" indent="0">
              <a:buNone/>
            </a:pPr>
            <a:r>
              <a:rPr lang="en-US" sz="1600" b="1" dirty="0">
                <a:solidFill>
                  <a:srgbClr val="FFFFFF"/>
                </a:solidFill>
              </a:rPr>
              <a:t>Endpoints &amp; HTTP</a:t>
            </a:r>
            <a:endParaRPr lang="en-US" sz="1600" dirty="0"/>
          </a:p>
        </p:txBody>
      </p:sp>
      <p:sp>
        <p:nvSpPr>
          <p:cNvPr id="7" name="Shape 4"/>
          <p:cNvSpPr/>
          <p:nvPr/>
        </p:nvSpPr>
        <p:spPr>
          <a:xfrm>
            <a:off x="594360" y="1764792"/>
            <a:ext cx="109728" cy="109728"/>
          </a:xfrm>
          <a:prstGeom prst="ellipse">
            <a:avLst/>
          </a:prstGeom>
          <a:solidFill>
            <a:srgbClr val="E10098"/>
          </a:solidFill>
          <a:ln w="12700">
            <a:solidFill>
              <a:srgbClr val="E10098"/>
            </a:solidFill>
            <a:prstDash val="solid"/>
          </a:ln>
        </p:spPr>
        <p:txBody>
          <a:bodyPr/>
          <a:lstStyle/>
          <a:p>
            <a:endParaRPr/>
          </a:p>
        </p:txBody>
      </p:sp>
      <p:sp>
        <p:nvSpPr>
          <p:cNvPr id="8" name="Text 5"/>
          <p:cNvSpPr/>
          <p:nvPr/>
        </p:nvSpPr>
        <p:spPr>
          <a:xfrm>
            <a:off x="740664" y="1719072"/>
            <a:ext cx="3694176" cy="365760"/>
          </a:xfrm>
          <a:prstGeom prst="rect">
            <a:avLst/>
          </a:prstGeom>
          <a:noFill/>
          <a:ln/>
        </p:spPr>
        <p:txBody>
          <a:bodyPr wrap="square" rtlCol="0" anchor="ctr"/>
          <a:lstStyle/>
          <a:p>
            <a:pPr marL="0" indent="0">
              <a:buNone/>
            </a:pPr>
            <a:r>
              <a:rPr lang="en-US" sz="1200" dirty="0">
                <a:solidFill>
                  <a:srgbClr val="FFFFFF"/>
                </a:solidFill>
              </a:rPr>
              <a:t>POST to a single /graphql endpoint</a:t>
            </a:r>
            <a:endParaRPr lang="en-US" sz="1200" dirty="0"/>
          </a:p>
        </p:txBody>
      </p:sp>
      <p:sp>
        <p:nvSpPr>
          <p:cNvPr id="9" name="Shape 6"/>
          <p:cNvSpPr/>
          <p:nvPr/>
        </p:nvSpPr>
        <p:spPr>
          <a:xfrm>
            <a:off x="594360" y="2176272"/>
            <a:ext cx="109728" cy="109728"/>
          </a:xfrm>
          <a:prstGeom prst="ellipse">
            <a:avLst/>
          </a:prstGeom>
          <a:solidFill>
            <a:srgbClr val="E10098"/>
          </a:solidFill>
          <a:ln w="12700">
            <a:solidFill>
              <a:srgbClr val="E10098"/>
            </a:solidFill>
            <a:prstDash val="solid"/>
          </a:ln>
        </p:spPr>
        <p:txBody>
          <a:bodyPr/>
          <a:lstStyle/>
          <a:p>
            <a:endParaRPr/>
          </a:p>
        </p:txBody>
      </p:sp>
      <p:sp>
        <p:nvSpPr>
          <p:cNvPr id="10" name="Text 7"/>
          <p:cNvSpPr/>
          <p:nvPr/>
        </p:nvSpPr>
        <p:spPr>
          <a:xfrm>
            <a:off x="740664" y="2130552"/>
            <a:ext cx="3694176" cy="365760"/>
          </a:xfrm>
          <a:prstGeom prst="rect">
            <a:avLst/>
          </a:prstGeom>
          <a:noFill/>
          <a:ln/>
        </p:spPr>
        <p:txBody>
          <a:bodyPr wrap="square" rtlCol="0" anchor="ctr"/>
          <a:lstStyle/>
          <a:p>
            <a:pPr marL="0" indent="0">
              <a:buNone/>
            </a:pPr>
            <a:r>
              <a:rPr lang="en-US" sz="1200" dirty="0">
                <a:solidFill>
                  <a:srgbClr val="FFFFFF"/>
                </a:solidFill>
              </a:rPr>
              <a:t>Sandbox: payments.sandbox.braintree-api.com/graphql</a:t>
            </a:r>
            <a:endParaRPr lang="en-US" sz="1200" dirty="0"/>
          </a:p>
        </p:txBody>
      </p:sp>
      <p:sp>
        <p:nvSpPr>
          <p:cNvPr id="11" name="Shape 8"/>
          <p:cNvSpPr/>
          <p:nvPr/>
        </p:nvSpPr>
        <p:spPr>
          <a:xfrm>
            <a:off x="594360" y="2587752"/>
            <a:ext cx="109728" cy="109728"/>
          </a:xfrm>
          <a:prstGeom prst="ellipse">
            <a:avLst/>
          </a:prstGeom>
          <a:solidFill>
            <a:srgbClr val="E10098"/>
          </a:solidFill>
          <a:ln w="12700">
            <a:solidFill>
              <a:srgbClr val="E10098"/>
            </a:solidFill>
            <a:prstDash val="solid"/>
          </a:ln>
        </p:spPr>
        <p:txBody>
          <a:bodyPr/>
          <a:lstStyle/>
          <a:p>
            <a:endParaRPr/>
          </a:p>
        </p:txBody>
      </p:sp>
      <p:sp>
        <p:nvSpPr>
          <p:cNvPr id="12" name="Text 9"/>
          <p:cNvSpPr/>
          <p:nvPr/>
        </p:nvSpPr>
        <p:spPr>
          <a:xfrm>
            <a:off x="740664" y="2542032"/>
            <a:ext cx="3694176" cy="365760"/>
          </a:xfrm>
          <a:prstGeom prst="rect">
            <a:avLst/>
          </a:prstGeom>
          <a:noFill/>
          <a:ln/>
        </p:spPr>
        <p:txBody>
          <a:bodyPr wrap="square" rtlCol="0" anchor="ctr"/>
          <a:lstStyle/>
          <a:p>
            <a:pPr marL="0" indent="0">
              <a:buNone/>
            </a:pPr>
            <a:r>
              <a:rPr lang="en-US" sz="1200" dirty="0">
                <a:solidFill>
                  <a:srgbClr val="FFFFFF"/>
                </a:solidFill>
              </a:rPr>
              <a:t>Production: payments.braintree-api.com/graphql</a:t>
            </a:r>
            <a:endParaRPr lang="en-US" sz="1200" dirty="0"/>
          </a:p>
        </p:txBody>
      </p:sp>
      <p:sp>
        <p:nvSpPr>
          <p:cNvPr id="13" name="Shape 10"/>
          <p:cNvSpPr/>
          <p:nvPr/>
        </p:nvSpPr>
        <p:spPr>
          <a:xfrm>
            <a:off x="4572000" y="1280160"/>
            <a:ext cx="4023360" cy="2286000"/>
          </a:xfrm>
          <a:prstGeom prst="roundRect">
            <a:avLst>
              <a:gd name="adj" fmla="val 2000"/>
            </a:avLst>
          </a:prstGeom>
          <a:solidFill>
            <a:srgbClr val="0F2142"/>
          </a:solidFill>
          <a:ln w="12700">
            <a:solidFill>
              <a:srgbClr val="0070BA"/>
            </a:solidFill>
            <a:prstDash val="solid"/>
          </a:ln>
        </p:spPr>
        <p:txBody>
          <a:bodyPr/>
          <a:lstStyle/>
          <a:p>
            <a:endParaRPr/>
          </a:p>
        </p:txBody>
      </p:sp>
      <p:sp>
        <p:nvSpPr>
          <p:cNvPr id="14" name="Text 11"/>
          <p:cNvSpPr/>
          <p:nvPr/>
        </p:nvSpPr>
        <p:spPr>
          <a:xfrm>
            <a:off x="4663440" y="1325880"/>
            <a:ext cx="3840480" cy="320040"/>
          </a:xfrm>
          <a:prstGeom prst="rect">
            <a:avLst/>
          </a:prstGeom>
          <a:noFill/>
          <a:ln/>
        </p:spPr>
        <p:txBody>
          <a:bodyPr wrap="square" rtlCol="0" anchor="ctr"/>
          <a:lstStyle/>
          <a:p>
            <a:pPr marL="0" indent="0">
              <a:buNone/>
            </a:pPr>
            <a:r>
              <a:rPr lang="en-US" sz="1600" b="1" dirty="0">
                <a:solidFill>
                  <a:srgbClr val="FFFFFF"/>
                </a:solidFill>
              </a:rPr>
              <a:t>Auth &amp; Headers</a:t>
            </a:r>
            <a:endParaRPr lang="en-US" sz="1600" dirty="0"/>
          </a:p>
        </p:txBody>
      </p:sp>
      <p:sp>
        <p:nvSpPr>
          <p:cNvPr id="15" name="Shape 12"/>
          <p:cNvSpPr/>
          <p:nvPr/>
        </p:nvSpPr>
        <p:spPr>
          <a:xfrm>
            <a:off x="4709160" y="1764792"/>
            <a:ext cx="109728" cy="109728"/>
          </a:xfrm>
          <a:prstGeom prst="ellipse">
            <a:avLst/>
          </a:prstGeom>
          <a:solidFill>
            <a:srgbClr val="0070BA"/>
          </a:solidFill>
          <a:ln w="12700">
            <a:solidFill>
              <a:srgbClr val="0070BA"/>
            </a:solidFill>
            <a:prstDash val="solid"/>
          </a:ln>
        </p:spPr>
        <p:txBody>
          <a:bodyPr/>
          <a:lstStyle/>
          <a:p>
            <a:endParaRPr/>
          </a:p>
        </p:txBody>
      </p:sp>
      <p:sp>
        <p:nvSpPr>
          <p:cNvPr id="16" name="Text 13"/>
          <p:cNvSpPr/>
          <p:nvPr/>
        </p:nvSpPr>
        <p:spPr>
          <a:xfrm>
            <a:off x="4855464" y="1719072"/>
            <a:ext cx="3694176" cy="365760"/>
          </a:xfrm>
          <a:prstGeom prst="rect">
            <a:avLst/>
          </a:prstGeom>
          <a:noFill/>
          <a:ln/>
        </p:spPr>
        <p:txBody>
          <a:bodyPr wrap="square" rtlCol="0" anchor="ctr"/>
          <a:lstStyle/>
          <a:p>
            <a:pPr marL="0" indent="0">
              <a:buNone/>
            </a:pPr>
            <a:r>
              <a:rPr lang="en-US" sz="1200" dirty="0">
                <a:solidFill>
                  <a:srgbClr val="FFFFFF"/>
                </a:solidFill>
              </a:rPr>
              <a:t>Requires a Braintree account</a:t>
            </a:r>
            <a:endParaRPr lang="en-US" sz="1200" dirty="0"/>
          </a:p>
        </p:txBody>
      </p:sp>
      <p:sp>
        <p:nvSpPr>
          <p:cNvPr id="17" name="Shape 14"/>
          <p:cNvSpPr/>
          <p:nvPr/>
        </p:nvSpPr>
        <p:spPr>
          <a:xfrm>
            <a:off x="4709160" y="2176272"/>
            <a:ext cx="109728" cy="109728"/>
          </a:xfrm>
          <a:prstGeom prst="ellipse">
            <a:avLst/>
          </a:prstGeom>
          <a:solidFill>
            <a:srgbClr val="0070BA"/>
          </a:solidFill>
          <a:ln w="12700">
            <a:solidFill>
              <a:srgbClr val="0070BA"/>
            </a:solidFill>
            <a:prstDash val="solid"/>
          </a:ln>
        </p:spPr>
        <p:txBody>
          <a:bodyPr/>
          <a:lstStyle/>
          <a:p>
            <a:endParaRPr/>
          </a:p>
        </p:txBody>
      </p:sp>
      <p:sp>
        <p:nvSpPr>
          <p:cNvPr id="18" name="Text 15"/>
          <p:cNvSpPr/>
          <p:nvPr/>
        </p:nvSpPr>
        <p:spPr>
          <a:xfrm>
            <a:off x="4855464" y="2130552"/>
            <a:ext cx="3694176" cy="365760"/>
          </a:xfrm>
          <a:prstGeom prst="rect">
            <a:avLst/>
          </a:prstGeom>
          <a:noFill/>
          <a:ln/>
        </p:spPr>
        <p:txBody>
          <a:bodyPr wrap="square" rtlCol="0" anchor="ctr"/>
          <a:lstStyle/>
          <a:p>
            <a:pPr marL="0" indent="0">
              <a:buNone/>
            </a:pPr>
            <a:r>
              <a:rPr lang="en-US" sz="1200" dirty="0">
                <a:solidFill>
                  <a:srgbClr val="FFFFFF"/>
                </a:solidFill>
              </a:rPr>
              <a:t>Authorization header with API key or client credentials</a:t>
            </a:r>
            <a:endParaRPr lang="en-US" sz="1200" dirty="0"/>
          </a:p>
        </p:txBody>
      </p:sp>
      <p:sp>
        <p:nvSpPr>
          <p:cNvPr id="19" name="Shape 16"/>
          <p:cNvSpPr/>
          <p:nvPr/>
        </p:nvSpPr>
        <p:spPr>
          <a:xfrm>
            <a:off x="4709160" y="2587752"/>
            <a:ext cx="109728" cy="109728"/>
          </a:xfrm>
          <a:prstGeom prst="ellipse">
            <a:avLst/>
          </a:prstGeom>
          <a:solidFill>
            <a:srgbClr val="0070BA"/>
          </a:solidFill>
          <a:ln w="12700">
            <a:solidFill>
              <a:srgbClr val="0070BA"/>
            </a:solidFill>
            <a:prstDash val="solid"/>
          </a:ln>
        </p:spPr>
        <p:txBody>
          <a:bodyPr/>
          <a:lstStyle/>
          <a:p>
            <a:endParaRPr/>
          </a:p>
        </p:txBody>
      </p:sp>
      <p:sp>
        <p:nvSpPr>
          <p:cNvPr id="20" name="Text 17"/>
          <p:cNvSpPr/>
          <p:nvPr/>
        </p:nvSpPr>
        <p:spPr>
          <a:xfrm>
            <a:off x="4855464" y="2542032"/>
            <a:ext cx="3694176" cy="365760"/>
          </a:xfrm>
          <a:prstGeom prst="rect">
            <a:avLst/>
          </a:prstGeom>
          <a:noFill/>
          <a:ln/>
        </p:spPr>
        <p:txBody>
          <a:bodyPr wrap="square" rtlCol="0" anchor="ctr"/>
          <a:lstStyle/>
          <a:p>
            <a:pPr marL="0" indent="0">
              <a:buNone/>
            </a:pPr>
            <a:r>
              <a:rPr lang="en-US" sz="1200" dirty="0">
                <a:solidFill>
                  <a:srgbClr val="FFFFFF"/>
                </a:solidFill>
              </a:rPr>
              <a:t>Braintree-Version header (e.g., 2019-01-01)</a:t>
            </a:r>
            <a:endParaRPr lang="en-US" sz="1200" dirty="0"/>
          </a:p>
        </p:txBody>
      </p:sp>
      <p:sp>
        <p:nvSpPr>
          <p:cNvPr id="21" name="Shape 18"/>
          <p:cNvSpPr/>
          <p:nvPr/>
        </p:nvSpPr>
        <p:spPr>
          <a:xfrm>
            <a:off x="4709160" y="2999232"/>
            <a:ext cx="109728" cy="109728"/>
          </a:xfrm>
          <a:prstGeom prst="ellipse">
            <a:avLst/>
          </a:prstGeom>
          <a:solidFill>
            <a:srgbClr val="0070BA"/>
          </a:solidFill>
          <a:ln w="12700">
            <a:solidFill>
              <a:srgbClr val="0070BA"/>
            </a:solidFill>
            <a:prstDash val="solid"/>
          </a:ln>
        </p:spPr>
        <p:txBody>
          <a:bodyPr/>
          <a:lstStyle/>
          <a:p>
            <a:endParaRPr/>
          </a:p>
        </p:txBody>
      </p:sp>
      <p:sp>
        <p:nvSpPr>
          <p:cNvPr id="22" name="Text 19"/>
          <p:cNvSpPr/>
          <p:nvPr/>
        </p:nvSpPr>
        <p:spPr>
          <a:xfrm>
            <a:off x="4855464" y="2953512"/>
            <a:ext cx="3694176" cy="365760"/>
          </a:xfrm>
          <a:prstGeom prst="rect">
            <a:avLst/>
          </a:prstGeom>
          <a:noFill/>
          <a:ln/>
        </p:spPr>
        <p:txBody>
          <a:bodyPr wrap="square" rtlCol="0" anchor="ctr"/>
          <a:lstStyle/>
          <a:p>
            <a:pPr marL="0" indent="0">
              <a:buNone/>
            </a:pPr>
            <a:r>
              <a:rPr lang="en-US" sz="1200" dirty="0">
                <a:solidFill>
                  <a:srgbClr val="FFFFFF"/>
                </a:solidFill>
              </a:rPr>
              <a:t>Content-Type: application/json</a:t>
            </a:r>
            <a:endParaRPr lang="en-US" sz="1200" dirty="0"/>
          </a:p>
        </p:txBody>
      </p:sp>
      <p:sp>
        <p:nvSpPr>
          <p:cNvPr id="23" name="Shape 20"/>
          <p:cNvSpPr/>
          <p:nvPr/>
        </p:nvSpPr>
        <p:spPr>
          <a:xfrm>
            <a:off x="457200" y="3566160"/>
            <a:ext cx="8229600" cy="1097280"/>
          </a:xfrm>
          <a:prstGeom prst="roundRect">
            <a:avLst>
              <a:gd name="adj" fmla="val 4167"/>
            </a:avLst>
          </a:prstGeom>
          <a:solidFill>
            <a:srgbClr val="0F2142"/>
          </a:solidFill>
          <a:ln w="12700">
            <a:solidFill>
              <a:srgbClr val="6937FF"/>
            </a:solidFill>
            <a:prstDash val="solid"/>
          </a:ln>
        </p:spPr>
        <p:txBody>
          <a:bodyPr/>
          <a:lstStyle/>
          <a:p>
            <a:endParaRPr/>
          </a:p>
        </p:txBody>
      </p:sp>
      <p:sp>
        <p:nvSpPr>
          <p:cNvPr id="24" name="Text 21"/>
          <p:cNvSpPr/>
          <p:nvPr/>
        </p:nvSpPr>
        <p:spPr>
          <a:xfrm>
            <a:off x="502920" y="3611880"/>
            <a:ext cx="8138160" cy="1005840"/>
          </a:xfrm>
          <a:prstGeom prst="rect">
            <a:avLst/>
          </a:prstGeom>
          <a:noFill/>
          <a:ln/>
        </p:spPr>
        <p:txBody>
          <a:bodyPr wrap="square" lIns="1270" tIns="1270" rIns="1270" bIns="127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
  "</a:t>
            </a:r>
            <a:r>
              <a:rPr lang="en-US" sz="900" b="1" dirty="0">
                <a:solidFill>
                  <a:srgbClr val="E10098"/>
                </a:solidFill>
                <a:latin typeface="Courier New" pitchFamily="34" charset="0"/>
                <a:ea typeface="Courier New" pitchFamily="34" charset="-122"/>
                <a:cs typeface="Courier New" pitchFamily="34" charset="-120"/>
              </a:rPr>
              <a:t>query</a:t>
            </a: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25" name="Text 22"/>
          <p:cNvSpPr/>
          <p:nvPr/>
        </p:nvSpPr>
        <p:spPr>
          <a:xfrm>
            <a:off x="502920" y="3337560"/>
            <a:ext cx="8138160" cy="228600"/>
          </a:xfrm>
          <a:prstGeom prst="rect">
            <a:avLst/>
          </a:prstGeom>
          <a:noFill/>
          <a:ln/>
        </p:spPr>
        <p:txBody>
          <a:bodyPr wrap="square" rtlCol="0" anchor="ctr"/>
          <a:lstStyle/>
          <a:p>
            <a:pPr marL="0" indent="0">
              <a:buNone/>
            </a:pPr>
            <a:r>
              <a:rPr lang="en-US" sz="1000" i="1" dirty="0">
                <a:solidFill>
                  <a:srgbClr val="C5D0E6"/>
                </a:solidFill>
              </a:rPr>
              <a:t>Ping Request (JSON body)</a:t>
            </a:r>
            <a:endParaRPr lang="en-US" sz="1000" dirty="0"/>
          </a:p>
        </p:txBody>
      </p:sp>
      <p:sp>
        <p:nvSpPr>
          <p:cNvPr id="26" name="Text 23"/>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r>
              <a:rPr lang="en-US" sz="600" dirty="0">
                <a:solidFill>
                  <a:srgbClr val="000000"/>
                </a:solidFill>
              </a:rPr>
              <a:t>   </a:t>
            </a:r>
            <a:r>
              <a:rPr lang="en-US" sz="600" u="sng" dirty="0">
                <a:solidFill>
                  <a:srgbClr val="00B0F0"/>
                </a:solidFill>
                <a:hlinkClick r:id="rId6"/>
              </a:rPr>
              <a:t>[3]</a:t>
            </a:r>
            <a:r>
              <a:rPr lang="en-US" sz="600" dirty="0">
                <a:solidFill>
                  <a:srgbClr val="000000"/>
                </a:solidFill>
              </a:rPr>
              <a:t>   </a:t>
            </a:r>
            <a:r>
              <a:rPr lang="en-US" sz="600" u="sng" dirty="0">
                <a:solidFill>
                  <a:srgbClr val="00B0F0"/>
                </a:solidFill>
                <a:hlinkClick r:id="rId7"/>
              </a:rPr>
              <a:t>[4]</a:t>
            </a:r>
            <a:r>
              <a:rPr lang="en-US" sz="600" dirty="0">
                <a:solidFill>
                  <a:srgbClr val="000000"/>
                </a:solidFill>
              </a:rPr>
              <a:t>   </a:t>
            </a:r>
            <a:r>
              <a:rPr lang="en-US" sz="600" u="sng" dirty="0">
                <a:solidFill>
                  <a:srgbClr val="00B0F0"/>
                </a:solidFill>
                <a:hlinkClick r:id="rId8"/>
              </a:rPr>
              <a:t>[5]</a:t>
            </a:r>
            <a:r>
              <a:rPr lang="en-US" sz="600" dirty="0">
                <a:solidFill>
                  <a:srgbClr val="000000"/>
                </a:solidFill>
              </a:rPr>
              <a:t>   </a:t>
            </a:r>
            <a:r>
              <a:rPr lang="en-US" sz="600" u="sng" dirty="0">
                <a:solidFill>
                  <a:srgbClr val="00B0F0"/>
                </a:solidFill>
                <a:hlinkClick r:id="rId9"/>
              </a:rPr>
              <a:t>[6]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oai/share/background_content.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25000"/>
            </a:srgbClr>
          </a:solidFill>
          <a:ln w="12700">
            <a:solidFill>
              <a:srgbClr val="000000"/>
            </a:solidFill>
            <a:prstDash val="solid"/>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Authentication &amp; Control Panel</a:t>
            </a:r>
            <a:endParaRPr lang="en-US" sz="2600" dirty="0"/>
          </a:p>
        </p:txBody>
      </p:sp>
      <p:sp>
        <p:nvSpPr>
          <p:cNvPr id="5" name="Shape 2"/>
          <p:cNvSpPr/>
          <p:nvPr/>
        </p:nvSpPr>
        <p:spPr>
          <a:xfrm>
            <a:off x="457200" y="1005840"/>
            <a:ext cx="4114800" cy="1280160"/>
          </a:xfrm>
          <a:prstGeom prst="roundRect">
            <a:avLst>
              <a:gd name="adj" fmla="val 7143"/>
            </a:avLst>
          </a:prstGeom>
          <a:solidFill>
            <a:srgbClr val="0F1A2B"/>
          </a:solidFill>
          <a:ln w="12700">
            <a:solidFill>
              <a:srgbClr val="224C7A"/>
            </a:solidFill>
            <a:prstDash val="solid"/>
          </a:ln>
        </p:spPr>
        <p:txBody>
          <a:bodyPr/>
          <a:lstStyle/>
          <a:p>
            <a:endParaRPr/>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4360" y="1143000"/>
            <a:ext cx="365760" cy="365760"/>
          </a:xfrm>
          <a:prstGeom prst="rect">
            <a:avLst/>
          </a:prstGeom>
        </p:spPr>
      </p:pic>
      <p:sp>
        <p:nvSpPr>
          <p:cNvPr id="7" name="Text 3"/>
          <p:cNvSpPr/>
          <p:nvPr/>
        </p:nvSpPr>
        <p:spPr>
          <a:xfrm>
            <a:off x="1005840" y="1143000"/>
            <a:ext cx="3474720" cy="274320"/>
          </a:xfrm>
          <a:prstGeom prst="rect">
            <a:avLst/>
          </a:prstGeom>
          <a:noFill/>
          <a:ln/>
        </p:spPr>
        <p:txBody>
          <a:bodyPr wrap="square" rtlCol="0" anchor="ctr"/>
          <a:lstStyle/>
          <a:p>
            <a:pPr marL="0" indent="0">
              <a:buNone/>
            </a:pPr>
            <a:r>
              <a:rPr lang="en-US" sz="1200" b="1" dirty="0">
                <a:solidFill>
                  <a:srgbClr val="E10098"/>
                </a:solidFill>
              </a:rPr>
              <a:t>API Keys (Basic)</a:t>
            </a:r>
            <a:endParaRPr lang="en-US" sz="1200" dirty="0"/>
          </a:p>
        </p:txBody>
      </p:sp>
      <p:sp>
        <p:nvSpPr>
          <p:cNvPr id="8" name="Text 4"/>
          <p:cNvSpPr/>
          <p:nvPr/>
        </p:nvSpPr>
        <p:spPr>
          <a:xfrm>
            <a:off x="594360" y="1508760"/>
            <a:ext cx="3840480" cy="731520"/>
          </a:xfrm>
          <a:prstGeom prst="rect">
            <a:avLst/>
          </a:prstGeom>
          <a:noFill/>
          <a:ln/>
        </p:spPr>
        <p:txBody>
          <a:bodyPr wrap="square" rtlCol="0" anchor="ctr"/>
          <a:lstStyle/>
          <a:p>
            <a:pPr marL="0" indent="0">
              <a:buNone/>
            </a:pPr>
            <a:r>
              <a:rPr lang="en-US" sz="900" dirty="0">
                <a:solidFill>
                  <a:srgbClr val="F5F5F5"/>
                </a:solidFill>
              </a:rPr>
              <a:t>Generate in Control Panel. Base64‑encode public:private key and send as Basic auth.</a:t>
            </a:r>
            <a:endParaRPr lang="en-US" sz="900" dirty="0"/>
          </a:p>
        </p:txBody>
      </p:sp>
      <p:sp>
        <p:nvSpPr>
          <p:cNvPr id="9" name="Shape 5"/>
          <p:cNvSpPr/>
          <p:nvPr/>
        </p:nvSpPr>
        <p:spPr>
          <a:xfrm>
            <a:off x="4846320" y="1005840"/>
            <a:ext cx="4114800" cy="1280160"/>
          </a:xfrm>
          <a:prstGeom prst="roundRect">
            <a:avLst>
              <a:gd name="adj" fmla="val 7143"/>
            </a:avLst>
          </a:prstGeom>
          <a:solidFill>
            <a:srgbClr val="0F1A2B"/>
          </a:solidFill>
          <a:ln w="12700">
            <a:solidFill>
              <a:srgbClr val="224C7A"/>
            </a:solidFill>
            <a:prstDash val="solid"/>
          </a:ln>
        </p:spPr>
        <p:txBody>
          <a:bodyPr/>
          <a:lstStyle/>
          <a:p>
            <a:endParaRPr/>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83480" y="1143000"/>
            <a:ext cx="365760" cy="365760"/>
          </a:xfrm>
          <a:prstGeom prst="rect">
            <a:avLst/>
          </a:prstGeom>
        </p:spPr>
      </p:pic>
      <p:sp>
        <p:nvSpPr>
          <p:cNvPr id="11" name="Text 6"/>
          <p:cNvSpPr/>
          <p:nvPr/>
        </p:nvSpPr>
        <p:spPr>
          <a:xfrm>
            <a:off x="5394960" y="1143000"/>
            <a:ext cx="3474720" cy="274320"/>
          </a:xfrm>
          <a:prstGeom prst="rect">
            <a:avLst/>
          </a:prstGeom>
          <a:noFill/>
          <a:ln/>
        </p:spPr>
        <p:txBody>
          <a:bodyPr wrap="square" rtlCol="0" anchor="ctr"/>
          <a:lstStyle/>
          <a:p>
            <a:pPr marL="0" indent="0">
              <a:buNone/>
            </a:pPr>
            <a:r>
              <a:rPr lang="en-US" sz="1200" b="1" dirty="0">
                <a:solidFill>
                  <a:srgbClr val="E10098"/>
                </a:solidFill>
              </a:rPr>
              <a:t>Tokenization Keys</a:t>
            </a:r>
            <a:endParaRPr lang="en-US" sz="1200" dirty="0"/>
          </a:p>
        </p:txBody>
      </p:sp>
      <p:sp>
        <p:nvSpPr>
          <p:cNvPr id="12" name="Text 7"/>
          <p:cNvSpPr/>
          <p:nvPr/>
        </p:nvSpPr>
        <p:spPr>
          <a:xfrm>
            <a:off x="4983480" y="1508760"/>
            <a:ext cx="3840480" cy="731520"/>
          </a:xfrm>
          <a:prstGeom prst="rect">
            <a:avLst/>
          </a:prstGeom>
          <a:noFill/>
          <a:ln/>
        </p:spPr>
        <p:txBody>
          <a:bodyPr wrap="square" rtlCol="0" anchor="ctr"/>
          <a:lstStyle/>
          <a:p>
            <a:pPr marL="0" indent="0">
              <a:buNone/>
            </a:pPr>
            <a:r>
              <a:rPr lang="en-US" sz="900" dirty="0">
                <a:solidFill>
                  <a:srgbClr val="F5F5F5"/>
                </a:solidFill>
              </a:rPr>
              <a:t>Low‑privilege publishable keys for tokenizing payment info; obtain via Control Panel &amp; pass as Bearer token</a:t>
            </a:r>
            <a:r>
              <a:rPr sz="900" u="sng">
                <a:solidFill>
                  <a:schemeClr val="accent6"/>
                </a:solidFill>
                <a:hlinkClick r:id="rId8"/>
              </a:rPr>
              <a:t>(developer.paypal.com)</a:t>
            </a:r>
            <a:r>
              <a:t>.</a:t>
            </a:r>
            <a:endParaRPr lang="en-US" sz="900" dirty="0"/>
          </a:p>
        </p:txBody>
      </p:sp>
      <p:sp>
        <p:nvSpPr>
          <p:cNvPr id="13" name="Shape 8"/>
          <p:cNvSpPr/>
          <p:nvPr/>
        </p:nvSpPr>
        <p:spPr>
          <a:xfrm>
            <a:off x="457200" y="2560320"/>
            <a:ext cx="4114800" cy="1280160"/>
          </a:xfrm>
          <a:prstGeom prst="roundRect">
            <a:avLst>
              <a:gd name="adj" fmla="val 7143"/>
            </a:avLst>
          </a:prstGeom>
          <a:solidFill>
            <a:srgbClr val="0F1A2B"/>
          </a:solidFill>
          <a:ln w="12700">
            <a:solidFill>
              <a:srgbClr val="224C7A"/>
            </a:solidFill>
            <a:prstDash val="solid"/>
          </a:ln>
        </p:spPr>
        <p:txBody>
          <a:bodyPr/>
          <a:lstStyle/>
          <a:p>
            <a:endParaRPr/>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4360" y="2697480"/>
            <a:ext cx="365760" cy="365760"/>
          </a:xfrm>
          <a:prstGeom prst="rect">
            <a:avLst/>
          </a:prstGeom>
        </p:spPr>
      </p:pic>
      <p:sp>
        <p:nvSpPr>
          <p:cNvPr id="15" name="Text 9"/>
          <p:cNvSpPr/>
          <p:nvPr/>
        </p:nvSpPr>
        <p:spPr>
          <a:xfrm>
            <a:off x="1005840" y="2697480"/>
            <a:ext cx="3474720" cy="274320"/>
          </a:xfrm>
          <a:prstGeom prst="rect">
            <a:avLst/>
          </a:prstGeom>
          <a:noFill/>
          <a:ln/>
        </p:spPr>
        <p:txBody>
          <a:bodyPr wrap="square" rtlCol="0" anchor="ctr"/>
          <a:lstStyle/>
          <a:p>
            <a:pPr marL="0" indent="0">
              <a:buNone/>
            </a:pPr>
            <a:r>
              <a:rPr lang="en-US" sz="1200" b="1" dirty="0">
                <a:solidFill>
                  <a:srgbClr val="E10098"/>
                </a:solidFill>
              </a:rPr>
              <a:t>Authorization Fingerprints</a:t>
            </a:r>
            <a:endParaRPr lang="en-US" sz="1200" dirty="0"/>
          </a:p>
        </p:txBody>
      </p:sp>
      <p:sp>
        <p:nvSpPr>
          <p:cNvPr id="16" name="Text 10"/>
          <p:cNvSpPr/>
          <p:nvPr/>
        </p:nvSpPr>
        <p:spPr>
          <a:xfrm>
            <a:off x="594360" y="3063240"/>
            <a:ext cx="3840480" cy="731520"/>
          </a:xfrm>
          <a:prstGeom prst="rect">
            <a:avLst/>
          </a:prstGeom>
          <a:noFill/>
          <a:ln/>
        </p:spPr>
        <p:txBody>
          <a:bodyPr wrap="square" rtlCol="0" anchor="ctr"/>
          <a:lstStyle/>
          <a:p>
            <a:pPr marL="0" indent="0">
              <a:buNone/>
            </a:pPr>
            <a:r>
              <a:rPr lang="en-US" sz="900" dirty="0">
                <a:solidFill>
                  <a:srgbClr val="F5F5F5"/>
                </a:solidFill>
              </a:rPr>
              <a:t>Contained in client tokens (JWT); decode to extract fingerprint and send as Bearer token.</a:t>
            </a:r>
            <a:endParaRPr lang="en-US" sz="900" dirty="0"/>
          </a:p>
        </p:txBody>
      </p:sp>
      <p:sp>
        <p:nvSpPr>
          <p:cNvPr id="17" name="Shape 11"/>
          <p:cNvSpPr/>
          <p:nvPr/>
        </p:nvSpPr>
        <p:spPr>
          <a:xfrm>
            <a:off x="4846320" y="2560320"/>
            <a:ext cx="4114800" cy="1280160"/>
          </a:xfrm>
          <a:prstGeom prst="roundRect">
            <a:avLst>
              <a:gd name="adj" fmla="val 7143"/>
            </a:avLst>
          </a:prstGeom>
          <a:solidFill>
            <a:srgbClr val="0F1A2B"/>
          </a:solidFill>
          <a:ln w="12700">
            <a:solidFill>
              <a:srgbClr val="224C7A"/>
            </a:solidFill>
            <a:prstDash val="solid"/>
          </a:ln>
        </p:spPr>
        <p:txBody>
          <a:bodyPr/>
          <a:lstStyle/>
          <a:p>
            <a:endParaRPr/>
          </a:p>
        </p:txBody>
      </p:sp>
      <p:pic>
        <p:nvPicPr>
          <p:cNvPr id="1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83480" y="2697480"/>
            <a:ext cx="365760" cy="365760"/>
          </a:xfrm>
          <a:prstGeom prst="rect">
            <a:avLst/>
          </a:prstGeom>
        </p:spPr>
      </p:pic>
      <p:sp>
        <p:nvSpPr>
          <p:cNvPr id="19" name="Text 12"/>
          <p:cNvSpPr/>
          <p:nvPr/>
        </p:nvSpPr>
        <p:spPr>
          <a:xfrm>
            <a:off x="5394960" y="2697480"/>
            <a:ext cx="3474720" cy="274320"/>
          </a:xfrm>
          <a:prstGeom prst="rect">
            <a:avLst/>
          </a:prstGeom>
          <a:noFill/>
          <a:ln/>
        </p:spPr>
        <p:txBody>
          <a:bodyPr wrap="square" rtlCol="0" anchor="ctr"/>
          <a:lstStyle/>
          <a:p>
            <a:pPr marL="0" indent="0">
              <a:buNone/>
            </a:pPr>
            <a:r>
              <a:rPr lang="en-US" sz="1200" b="1" dirty="0">
                <a:solidFill>
                  <a:srgbClr val="E10098"/>
                </a:solidFill>
              </a:rPr>
              <a:t>Access Tokens (Auth)</a:t>
            </a:r>
            <a:endParaRPr lang="en-US" sz="1200" dirty="0"/>
          </a:p>
        </p:txBody>
      </p:sp>
      <p:sp>
        <p:nvSpPr>
          <p:cNvPr id="20" name="Text 13"/>
          <p:cNvSpPr/>
          <p:nvPr/>
        </p:nvSpPr>
        <p:spPr>
          <a:xfrm>
            <a:off x="4983480" y="3063240"/>
            <a:ext cx="3840480" cy="731520"/>
          </a:xfrm>
          <a:prstGeom prst="rect">
            <a:avLst/>
          </a:prstGeom>
          <a:noFill/>
          <a:ln/>
        </p:spPr>
        <p:txBody>
          <a:bodyPr wrap="square" rtlCol="0" anchor="ctr"/>
          <a:lstStyle/>
          <a:p>
            <a:pPr marL="0" indent="0">
              <a:buNone/>
            </a:pPr>
            <a:r>
              <a:rPr lang="en-US" sz="900" dirty="0">
                <a:solidFill>
                  <a:srgbClr val="F5F5F5"/>
                </a:solidFill>
              </a:rPr>
              <a:t>OAuth flow for third‑party apps (beta); send as Bearer token.</a:t>
            </a:r>
            <a:endParaRPr lang="en-US" sz="900" dirty="0"/>
          </a:p>
        </p:txBody>
      </p:sp>
      <p:sp>
        <p:nvSpPr>
          <p:cNvPr id="21" name="Text 14"/>
          <p:cNvSpPr/>
          <p:nvPr/>
        </p:nvSpPr>
        <p:spPr>
          <a:xfrm>
            <a:off x="457200" y="3886200"/>
            <a:ext cx="8686800" cy="731520"/>
          </a:xfrm>
          <a:prstGeom prst="rect">
            <a:avLst/>
          </a:prstGeom>
          <a:noFill/>
          <a:ln/>
        </p:spPr>
        <p:txBody>
          <a:bodyPr wrap="square" rtlCol="0" anchor="ctr"/>
          <a:lstStyle/>
          <a:p>
            <a:pPr marL="0" indent="0">
              <a:buNone/>
            </a:pPr>
            <a:r>
              <a:rPr lang="en-US" sz="1400" b="1" dirty="0">
                <a:solidFill>
                  <a:srgbClr val="003087"/>
                </a:solidFill>
              </a:rPr>
              <a:t>Headers &amp; Versioning
</a:t>
            </a:r>
            <a:r>
              <a:rPr lang="en-US" sz="900" dirty="0">
                <a:solidFill>
                  <a:srgbClr val="F5F5F5"/>
                </a:solidFill>
              </a:rPr>
              <a:t>Always include a Braintree‑Version header (YYYY‑MM‑DD) and set Content‑Type: application/json.</a:t>
            </a:r>
            <a:endParaRPr lang="en-US" sz="1400" dirty="0"/>
          </a:p>
        </p:txBody>
      </p:sp>
      <p:sp>
        <p:nvSpPr>
          <p:cNvPr id="22" name="Text 15"/>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13">
                  <a:extLst>
                    <a:ext uri="{A12FA001-AC4F-418D-AE19-62706E023703}">
                      <ahyp:hlinkClr xmlns:ahyp="http://schemas.microsoft.com/office/drawing/2018/hyperlinkcolor" val="tx"/>
                    </a:ext>
                  </a:extLst>
                </a:hlinkClick>
              </a:rPr>
              <a:t>[9]</a:t>
            </a:r>
            <a:r>
              <a:rPr lang="en-US" sz="600" u="sng" dirty="0">
                <a:solidFill>
                  <a:srgbClr val="003087"/>
                </a:solidFill>
                <a:hlinkClick r:id="rId14">
                  <a:extLst>
                    <a:ext uri="{A12FA001-AC4F-418D-AE19-62706E023703}">
                      <ahyp:hlinkClr xmlns:ahyp="http://schemas.microsoft.com/office/drawing/2018/hyperlinkcolor" val="tx"/>
                    </a:ext>
                  </a:extLst>
                </a:hlinkClick>
              </a:rPr>
              <a:t>[10]</a:t>
            </a:r>
            <a:r>
              <a:rPr lang="en-US" sz="600" u="sng" dirty="0">
                <a:solidFill>
                  <a:srgbClr val="003087"/>
                </a:solidFill>
                <a:hlinkClick r:id="rId15">
                  <a:extLst>
                    <a:ext uri="{A12FA001-AC4F-418D-AE19-62706E023703}">
                      <ahyp:hlinkClr xmlns:ahyp="http://schemas.microsoft.com/office/drawing/2018/hyperlinkcolor" val="tx"/>
                    </a:ext>
                  </a:extLst>
                </a:hlinkClick>
              </a:rPr>
              <a:t>[11]</a:t>
            </a:r>
            <a:r>
              <a:rPr lang="en-US" sz="600" u="sng" dirty="0">
                <a:solidFill>
                  <a:srgbClr val="003087"/>
                </a:solidFill>
                <a:hlinkClick r:id="rId16">
                  <a:extLst>
                    <a:ext uri="{A12FA001-AC4F-418D-AE19-62706E023703}">
                      <ahyp:hlinkClr xmlns:ahyp="http://schemas.microsoft.com/office/drawing/2018/hyperlinkcolor" val="tx"/>
                    </a:ext>
                  </a:extLst>
                </a:hlinkClick>
              </a:rPr>
              <a:t>[12]</a:t>
            </a:r>
            <a:r>
              <a:rPr lang="en-US" sz="600" u="sng" dirty="0">
                <a:solidFill>
                  <a:srgbClr val="003087"/>
                </a:solidFill>
                <a:hlinkClick r:id="rId8"/>
              </a:rPr>
              <a:t>[13]</a:t>
            </a:r>
            <a:r>
              <a:rPr lang="en-US" sz="600" u="sng" dirty="0">
                <a:solidFill>
                  <a:srgbClr val="003087"/>
                </a:solidFill>
                <a:hlinkClick r:id="rId17">
                  <a:extLst>
                    <a:ext uri="{A12FA001-AC4F-418D-AE19-62706E023703}">
                      <ahyp:hlinkClr xmlns:ahyp="http://schemas.microsoft.com/office/drawing/2018/hyperlinkcolor" val="tx"/>
                    </a:ext>
                  </a:extLst>
                </a:hlinkClick>
              </a:rPr>
              <a:t>[14]</a:t>
            </a:r>
            <a:r>
              <a:rPr lang="en-US" sz="600" u="sng" dirty="0">
                <a:solidFill>
                  <a:srgbClr val="003087"/>
                </a:solidFill>
                <a:hlinkClick r:id="rId18">
                  <a:extLst>
                    <a:ext uri="{A12FA001-AC4F-418D-AE19-62706E023703}">
                      <ahyp:hlinkClr xmlns:ahyp="http://schemas.microsoft.com/office/drawing/2018/hyperlinkcolor" val="tx"/>
                    </a:ext>
                  </a:extLst>
                </a:hlinkClick>
              </a:rPr>
              <a:t>[15]</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oai/share/background_content.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20000"/>
            </a:srgbClr>
          </a:solidFill>
          <a:ln w="12700">
            <a:solidFill>
              <a:srgbClr val="000000"/>
            </a:solidFill>
            <a:prstDash val="solid"/>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Making API Calls</a:t>
            </a:r>
            <a:endParaRPr lang="en-US" sz="2600" dirty="0"/>
          </a:p>
        </p:txBody>
      </p:sp>
      <p:sp>
        <p:nvSpPr>
          <p:cNvPr id="5" name="Shape 2"/>
          <p:cNvSpPr/>
          <p:nvPr/>
        </p:nvSpPr>
        <p:spPr>
          <a:xfrm>
            <a:off x="457200" y="914400"/>
            <a:ext cx="4114800" cy="2103120"/>
          </a:xfrm>
          <a:prstGeom prst="roundRect">
            <a:avLst>
              <a:gd name="adj" fmla="val 4348"/>
            </a:avLst>
          </a:prstGeom>
          <a:solidFill>
            <a:srgbClr val="0F1A2B"/>
          </a:solidFill>
          <a:ln w="12700">
            <a:solidFill>
              <a:srgbClr val="224C7A"/>
            </a:solidFill>
            <a:prstDash val="solid"/>
          </a:ln>
        </p:spPr>
        <p:txBody>
          <a:bodyPr/>
          <a:lstStyle/>
          <a:p>
            <a:endParaRPr/>
          </a:p>
        </p:txBody>
      </p:sp>
      <p:sp>
        <p:nvSpPr>
          <p:cNvPr id="6" name="Text 3"/>
          <p:cNvSpPr/>
          <p:nvPr/>
        </p:nvSpPr>
        <p:spPr>
          <a:xfrm>
            <a:off x="548640" y="1005840"/>
            <a:ext cx="3931920" cy="1920240"/>
          </a:xfrm>
          <a:prstGeom prst="rect">
            <a:avLst/>
          </a:prstGeom>
          <a:noFill/>
          <a:ln/>
        </p:spPr>
        <p:txBody>
          <a:bodyPr wrap="square" rtlCol="0" anchor="ctr"/>
          <a:lstStyle/>
          <a:p>
            <a:pPr marL="0" indent="0">
              <a:buNone/>
            </a:pPr>
            <a:r>
              <a:rPr lang="en-US" sz="1400" b="1" dirty="0">
                <a:solidFill>
                  <a:srgbClr val="003087"/>
                </a:solidFill>
              </a:rPr>
              <a:t>Endpoints
</a:t>
            </a:r>
            <a:r>
              <a:rPr lang="en-US" sz="900" dirty="0">
                <a:solidFill>
                  <a:srgbClr val="F5F5F5"/>
                </a:solidFill>
              </a:rPr>
              <a:t>Sandbox: https://payments.sandbox.braintree-api.com/graphql
Production: https://payments.braintree-api.com/graphql
</a:t>
            </a:r>
            <a:r>
              <a:rPr lang="en-US" sz="1400" b="1" dirty="0">
                <a:solidFill>
                  <a:srgbClr val="003087"/>
                </a:solidFill>
              </a:rPr>
              <a:t>Headers
</a:t>
            </a:r>
            <a:r>
              <a:rPr lang="en-US" sz="900" dirty="0">
                <a:solidFill>
                  <a:srgbClr val="F5F5F5"/>
                </a:solidFill>
              </a:rPr>
              <a:t>• Authorization: Basic/Bearer depending on credential
• Braintree-Version: YYYY-MM-DD
• Content-Type: application/json</a:t>
            </a:r>
            <a:endParaRPr lang="en-US" sz="1400" dirty="0"/>
          </a:p>
        </p:txBody>
      </p:sp>
      <p:sp>
        <p:nvSpPr>
          <p:cNvPr id="7" name="Shape 4"/>
          <p:cNvSpPr/>
          <p:nvPr/>
        </p:nvSpPr>
        <p:spPr>
          <a:xfrm>
            <a:off x="4663440" y="914400"/>
            <a:ext cx="4023360" cy="3017520"/>
          </a:xfrm>
          <a:prstGeom prst="roundRect">
            <a:avLst>
              <a:gd name="adj" fmla="val 3030"/>
            </a:avLst>
          </a:prstGeom>
          <a:solidFill>
            <a:srgbClr val="0F1A2B"/>
          </a:solidFill>
          <a:ln w="12700">
            <a:solidFill>
              <a:srgbClr val="224C7A"/>
            </a:solidFill>
            <a:prstDash val="solid"/>
          </a:ln>
        </p:spPr>
        <p:txBody>
          <a:bodyPr/>
          <a:lstStyle/>
          <a:p>
            <a:endParaRPr/>
          </a:p>
        </p:txBody>
      </p:sp>
      <p:sp>
        <p:nvSpPr>
          <p:cNvPr id="8" name="Text 5"/>
          <p:cNvSpPr/>
          <p:nvPr/>
        </p:nvSpPr>
        <p:spPr>
          <a:xfrm>
            <a:off x="4754880" y="1005840"/>
            <a:ext cx="3840480" cy="2834640"/>
          </a:xfrm>
          <a:prstGeom prst="rect">
            <a:avLst/>
          </a:prstGeom>
          <a:noFill/>
          <a:ln/>
        </p:spPr>
        <p:txBody>
          <a:bodyPr wrap="square" rtlCol="0" anchor="ctr"/>
          <a:lstStyle/>
          <a:p>
            <a:pPr marL="0" indent="0">
              <a:buNone/>
            </a:pPr>
            <a:r>
              <a:rPr lang="en-US" sz="1400" b="1" dirty="0">
                <a:solidFill>
                  <a:srgbClr val="003087"/>
                </a:solidFill>
              </a:rPr>
              <a:t>JSON Body
</a:t>
            </a:r>
            <a:r>
              <a:rPr lang="en-US" sz="900" dirty="0">
                <a:solidFill>
                  <a:srgbClr val="F5F5F5"/>
                </a:solidFill>
              </a:rPr>
              <a:t>{
  "query": "query { ping }"
}
</a:t>
            </a:r>
            <a:r>
              <a:rPr lang="en-US" sz="1400" b="1" dirty="0">
                <a:solidFill>
                  <a:srgbClr val="003087"/>
                </a:solidFill>
              </a:rPr>
              <a:t>Variables
</a:t>
            </a:r>
            <a:r>
              <a:rPr lang="en-US" sz="750" dirty="0">
                <a:solidFill>
                  <a:srgbClr val="F5F5F5"/>
                </a:solidFill>
              </a:rPr>
              <a:t>{</a:t>
            </a:r>
            <a:endParaRPr lang="en-US" sz="1400" dirty="0"/>
          </a:p>
          <a:p>
            <a:pPr marL="0" indent="0">
              <a:buNone/>
            </a:pPr>
            <a:r>
              <a:rPr lang="en-US" sz="750" dirty="0">
                <a:solidFill>
                  <a:srgbClr val="F5F5F5"/>
                </a:solidFill>
              </a:rPr>
              <a:t>  "query": "mutation Charge($input: ChargePaymentMethodInput!) {\n    chargePaymentMethod(input: $input) {\n      transaction { id status }\n    }\n  }",</a:t>
            </a:r>
            <a:endParaRPr lang="en-US" sz="1400" dirty="0"/>
          </a:p>
          <a:p>
            <a:pPr marL="0" indent="0">
              <a:buNone/>
            </a:pPr>
            <a:r>
              <a:rPr lang="en-US" sz="750" dirty="0">
                <a:solidFill>
                  <a:srgbClr val="F5F5F5"/>
                </a:solidFill>
              </a:rPr>
              <a:t>  "variables": {</a:t>
            </a:r>
            <a:endParaRPr lang="en-US" sz="1400" dirty="0"/>
          </a:p>
          <a:p>
            <a:pPr marL="0" indent="0">
              <a:buNone/>
            </a:pPr>
            <a:r>
              <a:rPr lang="en-US" sz="750" dirty="0">
                <a:solidFill>
                  <a:srgbClr val="F5F5F5"/>
                </a:solidFill>
              </a:rPr>
              <a:t>    "input": {</a:t>
            </a:r>
            <a:endParaRPr lang="en-US" sz="1400" dirty="0"/>
          </a:p>
          <a:p>
            <a:pPr marL="0" indent="0">
              <a:buNone/>
            </a:pPr>
            <a:r>
              <a:rPr lang="en-US" sz="750" dirty="0">
                <a:solidFill>
                  <a:srgbClr val="F5F5F5"/>
                </a:solidFill>
              </a:rPr>
              <a:t>      "paymentMethodId": "SINGLE_USE_NONCE",</a:t>
            </a:r>
            <a:endParaRPr lang="en-US" sz="1400" dirty="0"/>
          </a:p>
          <a:p>
            <a:pPr marL="0" indent="0">
              <a:buNone/>
            </a:pPr>
            <a:r>
              <a:rPr lang="en-US" sz="750" dirty="0">
                <a:solidFill>
                  <a:srgbClr val="F5F5F5"/>
                </a:solidFill>
              </a:rPr>
              <a:t>      "transaction": { "amount": "10.00" }</a:t>
            </a:r>
            <a:endParaRPr lang="en-US" sz="1400" dirty="0"/>
          </a:p>
          <a:p>
            <a:pPr marL="0" indent="0">
              <a:buNone/>
            </a:pPr>
            <a:r>
              <a:rPr lang="en-US" sz="750" dirty="0">
                <a:solidFill>
                  <a:srgbClr val="F5F5F5"/>
                </a:solidFill>
              </a:rPr>
              <a:t>    }</a:t>
            </a:r>
            <a:endParaRPr lang="en-US" sz="1400" dirty="0"/>
          </a:p>
          <a:p>
            <a:pPr marL="0" indent="0">
              <a:buNone/>
            </a:pPr>
            <a:r>
              <a:rPr lang="en-US" sz="750" dirty="0">
                <a:solidFill>
                  <a:srgbClr val="F5F5F5"/>
                </a:solidFill>
              </a:rPr>
              <a:t>  }</a:t>
            </a:r>
            <a:endParaRPr lang="en-US" sz="1400" dirty="0"/>
          </a:p>
          <a:p>
            <a:pPr marL="0" indent="0">
              <a:buNone/>
            </a:pPr>
            <a:r>
              <a:rPr lang="en-US" sz="750" dirty="0">
                <a:solidFill>
                  <a:srgbClr val="F5F5F5"/>
                </a:solidFill>
              </a:rPr>
              <a:t>}</a:t>
            </a:r>
            <a:endParaRPr lang="en-US" sz="1400" dirty="0"/>
          </a:p>
          <a:p>
            <a:pPr marL="0" indent="0">
              <a:buNone/>
            </a:pPr>
            <a:endParaRPr lang="en-US" sz="1400" dirty="0"/>
          </a:p>
          <a:p>
            <a:pPr marL="0" indent="0">
              <a:buNone/>
            </a:pPr>
            <a:r>
              <a:rPr lang="en-US" sz="800" i="1" dirty="0">
                <a:solidFill>
                  <a:srgbClr val="F5F5F5"/>
                </a:solidFill>
              </a:rPr>
              <a:t>Tip: Use aliases to call multiple mutations in one request</a:t>
            </a:r>
            <a:r>
              <a:rPr sz="800" u="sng">
                <a:solidFill>
                  <a:schemeClr val="accent6"/>
                </a:solidFill>
                <a:hlinkClick r:id="rId4"/>
              </a:rPr>
              <a:t>(developer.paypal.com)</a:t>
            </a:r>
            <a:r>
              <a:t>.</a:t>
            </a:r>
            <a:endParaRPr lang="en-US" sz="1400" dirty="0"/>
          </a:p>
        </p:txBody>
      </p:sp>
      <p:sp>
        <p:nvSpPr>
          <p:cNvPr id="9" name="Text 6"/>
          <p:cNvSpPr/>
          <p:nvPr/>
        </p:nvSpPr>
        <p:spPr>
          <a:xfrm>
            <a:off x="457200" y="3108960"/>
            <a:ext cx="8686800" cy="914400"/>
          </a:xfrm>
          <a:prstGeom prst="rect">
            <a:avLst/>
          </a:prstGeom>
          <a:noFill/>
          <a:ln/>
        </p:spPr>
        <p:txBody>
          <a:bodyPr wrap="square" rtlCol="0" anchor="ctr"/>
          <a:lstStyle/>
          <a:p>
            <a:pPr marL="0" indent="0">
              <a:buNone/>
            </a:pPr>
            <a:r>
              <a:rPr lang="en-US" sz="1400" b="1" dirty="0">
                <a:solidFill>
                  <a:srgbClr val="003087"/>
                </a:solidFill>
              </a:rPr>
              <a:t>API Explorer / GraphiQL
</a:t>
            </a:r>
            <a:r>
              <a:rPr lang="en-US" sz="800" dirty="0">
                <a:solidFill>
                  <a:srgbClr val="F5F5F5"/>
                </a:solidFill>
              </a:rPr>
              <a:t>Use the interactive API Explorer to run queries and mutations with your sandbox credentials. In GraphiQL you enter plain GraphQL in one pane and JSON variables in another</a:t>
            </a:r>
            <a:r>
              <a:rPr sz="800" u="sng">
                <a:solidFill>
                  <a:schemeClr val="accent6"/>
                </a:solidFill>
                <a:hlinkClick r:id="rId5"/>
              </a:rPr>
              <a:t>(developer.paypal.com)</a:t>
            </a:r>
            <a:r>
              <a:t>.</a:t>
            </a:r>
            <a:endParaRPr lang="en-US" sz="1400" dirty="0"/>
          </a:p>
        </p:txBody>
      </p:sp>
      <p:sp>
        <p:nvSpPr>
          <p:cNvPr id="10" name="Text 7"/>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6">
                  <a:extLst>
                    <a:ext uri="{A12FA001-AC4F-418D-AE19-62706E023703}">
                      <ahyp:hlinkClr xmlns:ahyp="http://schemas.microsoft.com/office/drawing/2018/hyperlinkcolor" val="tx"/>
                    </a:ext>
                  </a:extLst>
                </a:hlinkClick>
              </a:rPr>
              <a:t>[16]</a:t>
            </a:r>
            <a:r>
              <a:rPr lang="en-US" sz="600" u="sng" dirty="0">
                <a:solidFill>
                  <a:srgbClr val="003087"/>
                </a:solidFill>
                <a:hlinkClick r:id="rId7"/>
              </a:rPr>
              <a:t>[17]</a:t>
            </a:r>
            <a:r>
              <a:rPr lang="en-US" sz="600" u="sng" dirty="0">
                <a:solidFill>
                  <a:srgbClr val="003087"/>
                </a:solidFill>
                <a:hlinkClick r:id="rId8">
                  <a:extLst>
                    <a:ext uri="{A12FA001-AC4F-418D-AE19-62706E023703}">
                      <ahyp:hlinkClr xmlns:ahyp="http://schemas.microsoft.com/office/drawing/2018/hyperlinkcolor" val="tx"/>
                    </a:ext>
                  </a:extLst>
                </a:hlinkClick>
              </a:rPr>
              <a:t>[18]</a:t>
            </a:r>
            <a:r>
              <a:rPr lang="en-US" sz="600" u="sng" dirty="0">
                <a:solidFill>
                  <a:srgbClr val="003087"/>
                </a:solidFill>
                <a:hlinkClick r:id="rId9">
                  <a:extLst>
                    <a:ext uri="{A12FA001-AC4F-418D-AE19-62706E023703}">
                      <ahyp:hlinkClr xmlns:ahyp="http://schemas.microsoft.com/office/drawing/2018/hyperlinkcolor" val="tx"/>
                    </a:ext>
                  </a:extLst>
                </a:hlinkClick>
              </a:rPr>
              <a:t>[19]</a:t>
            </a:r>
            <a:r>
              <a:rPr lang="en-US" sz="600" u="sng" dirty="0">
                <a:solidFill>
                  <a:srgbClr val="003087"/>
                </a:solidFill>
                <a:hlinkClick r:id="rId10">
                  <a:extLst>
                    <a:ext uri="{A12FA001-AC4F-418D-AE19-62706E023703}">
                      <ahyp:hlinkClr xmlns:ahyp="http://schemas.microsoft.com/office/drawing/2018/hyperlinkcolor" val="tx"/>
                    </a:ext>
                  </a:extLst>
                </a:hlinkClick>
              </a:rPr>
              <a:t>[20]</a:t>
            </a:r>
            <a:r>
              <a:rPr lang="en-US" sz="600" u="sng" dirty="0">
                <a:solidFill>
                  <a:srgbClr val="003087"/>
                </a:solidFill>
                <a:hlinkClick r:id="rId11">
                  <a:extLst>
                    <a:ext uri="{A12FA001-AC4F-418D-AE19-62706E023703}">
                      <ahyp:hlinkClr xmlns:ahyp="http://schemas.microsoft.com/office/drawing/2018/hyperlinkcolor" val="tx"/>
                    </a:ext>
                  </a:extLst>
                </a:hlinkClick>
              </a:rPr>
              <a:t>[21]</a:t>
            </a:r>
            <a:r>
              <a:rPr lang="en-US" sz="600" u="sng" dirty="0">
                <a:solidFill>
                  <a:srgbClr val="003087"/>
                </a:solidFill>
                <a:hlinkClick r:id="rId4"/>
              </a:rPr>
              <a:t>[22]</a:t>
            </a:r>
            <a:r>
              <a:rPr lang="en-US" sz="600" u="sng" dirty="0">
                <a:solidFill>
                  <a:srgbClr val="003087"/>
                </a:solidFill>
                <a:hlinkClick r:id="rId5"/>
              </a:rPr>
              <a:t>[23]</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p:spPr>
        <p:txBody>
          <a:bodyPr/>
          <a:lstStyle/>
          <a:p>
            <a:endParaRPr/>
          </a:p>
        </p:txBody>
      </p:sp>
      <p:sp>
        <p:nvSpPr>
          <p:cNvPr id="4" name="Text 1"/>
          <p:cNvSpPr/>
          <p:nvPr/>
        </p:nvSpPr>
        <p:spPr>
          <a:xfrm>
            <a:off x="457200" y="457200"/>
            <a:ext cx="8229600" cy="640080"/>
          </a:xfrm>
          <a:prstGeom prst="rect">
            <a:avLst/>
          </a:prstGeom>
          <a:noFill/>
          <a:ln/>
        </p:spPr>
        <p:txBody>
          <a:bodyPr wrap="square" rtlCol="0" anchor="ctr"/>
          <a:lstStyle/>
          <a:p>
            <a:pPr marL="0" indent="0">
              <a:buNone/>
            </a:pPr>
            <a:r>
              <a:rPr lang="en-US" sz="2400" b="1" dirty="0">
                <a:solidFill>
                  <a:srgbClr val="FFFFFF"/>
                </a:solidFill>
              </a:rPr>
              <a:t>Multiple Charges in One Call</a:t>
            </a:r>
            <a:endParaRPr lang="en-US" sz="2400" dirty="0"/>
          </a:p>
        </p:txBody>
      </p:sp>
      <p:sp>
        <p:nvSpPr>
          <p:cNvPr id="5" name="Shape 2"/>
          <p:cNvSpPr/>
          <p:nvPr/>
        </p:nvSpPr>
        <p:spPr>
          <a:xfrm>
            <a:off x="457200" y="1280160"/>
            <a:ext cx="4754880" cy="2468880"/>
          </a:xfrm>
          <a:prstGeom prst="roundRect">
            <a:avLst>
              <a:gd name="adj" fmla="val 1852"/>
            </a:avLst>
          </a:prstGeom>
          <a:solidFill>
            <a:srgbClr val="0F2142"/>
          </a:solidFill>
          <a:ln w="12700">
            <a:solidFill>
              <a:srgbClr val="E10098"/>
            </a:solidFill>
            <a:prstDash val="solid"/>
          </a:ln>
        </p:spPr>
        <p:txBody>
          <a:bodyPr/>
          <a:lstStyle/>
          <a:p>
            <a:endParaRPr/>
          </a:p>
        </p:txBody>
      </p:sp>
      <p:sp>
        <p:nvSpPr>
          <p:cNvPr id="6" name="Text 3"/>
          <p:cNvSpPr/>
          <p:nvPr/>
        </p:nvSpPr>
        <p:spPr>
          <a:xfrm>
            <a:off x="502920" y="1325880"/>
            <a:ext cx="4663440" cy="2377440"/>
          </a:xfrm>
          <a:prstGeom prst="rect">
            <a:avLst/>
          </a:prstGeom>
          <a:noFill/>
          <a:ln/>
        </p:spPr>
        <p:txBody>
          <a:bodyPr wrap="square" lIns="0" tIns="0" rIns="0" bIns="0" rtlCol="0" anchor="ctr"/>
          <a:lstStyle/>
          <a:p>
            <a:pPr marL="0" indent="0">
              <a:buNone/>
            </a:pPr>
            <a:r>
              <a:rPr lang="en-US" sz="900" b="1" dirty="0">
                <a:solidFill>
                  <a:srgbClr val="E10098"/>
                </a:solidFill>
                <a:latin typeface="Courier New" pitchFamily="34" charset="0"/>
                <a:ea typeface="Courier New" pitchFamily="34" charset="-122"/>
                <a:cs typeface="Courier New" pitchFamily="34" charset="-120"/>
              </a:rPr>
              <a:t>mutation </a:t>
            </a:r>
            <a:r>
              <a:rPr lang="en-US" sz="900" dirty="0">
                <a:solidFill>
                  <a:srgbClr val="FFFFFF"/>
                </a:solidFill>
                <a:latin typeface="Courier New" pitchFamily="34" charset="0"/>
                <a:ea typeface="Courier New" pitchFamily="34" charset="-122"/>
                <a:cs typeface="Courier New" pitchFamily="34" charset="-120"/>
              </a:rPr>
              <a:t>twoChargesAtOnce($tx1: ChargePaymentMethodInput!, $tx2: ChargePaymentMethodInput!) {
  firstTransaction: chargePaymentMethod(input: $tx1) {
    transaction { amount { value currencyIsoCode } }
  }
  secondTransaction: chargePaymentMethod(input: $tx2) {
    transaction { amount { value currencyIsoCode } }
  }
}</a:t>
            </a:r>
            <a:endParaRPr lang="en-US" sz="900" dirty="0"/>
          </a:p>
        </p:txBody>
      </p:sp>
      <p:sp>
        <p:nvSpPr>
          <p:cNvPr id="7" name="Text 4"/>
          <p:cNvSpPr/>
          <p:nvPr/>
        </p:nvSpPr>
        <p:spPr>
          <a:xfrm>
            <a:off x="5303520" y="1371600"/>
            <a:ext cx="3383280" cy="1463040"/>
          </a:xfrm>
          <a:prstGeom prst="rect">
            <a:avLst/>
          </a:prstGeom>
          <a:noFill/>
          <a:ln/>
        </p:spPr>
        <p:txBody>
          <a:bodyPr wrap="square" rtlCol="0" anchor="ctr"/>
          <a:lstStyle/>
          <a:p>
            <a:pPr marL="0" indent="0">
              <a:buNone/>
            </a:pPr>
            <a:r>
              <a:rPr lang="en-US" sz="1200" dirty="0">
                <a:solidFill>
                  <a:srgbClr val="FFFFFF"/>
                </a:solidFill>
              </a:rPr>
              <a:t>Using GraphQL aliases you can execute multiple charges in one request. Each alias binds to its own variables and returns its own result.</a:t>
            </a:r>
            <a:endParaRPr lang="en-US" sz="1200" dirty="0"/>
          </a:p>
        </p:txBody>
      </p:sp>
      <p:sp>
        <p:nvSpPr>
          <p:cNvPr id="8" name="Text 5"/>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4"/>
              </a:rPr>
              <a:t>[1]</a:t>
            </a:r>
            <a:r>
              <a:rPr lang="en-US" sz="600" dirty="0">
                <a:solidFill>
                  <a:srgbClr val="000000"/>
                </a:solidFill>
              </a:rPr>
              <a:t>   </a:t>
            </a:r>
            <a:r>
              <a:rPr lang="en-US" sz="600" u="sng" dirty="0">
                <a:solidFill>
                  <a:srgbClr val="00B0F0"/>
                </a:solidFill>
                <a:hlinkClick r:id="rId5"/>
              </a:rPr>
              <a:t>[2]</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0000"/>
            </a:srgbClr>
          </a:solidFill>
          <a:ln/>
        </p:spPr>
        <p:txBody>
          <a:bodyPr/>
          <a:lstStyle/>
          <a:p>
            <a:endParaRPr/>
          </a:p>
        </p:txBody>
      </p:sp>
      <p:sp>
        <p:nvSpPr>
          <p:cNvPr id="4" name="Text 1"/>
          <p:cNvSpPr/>
          <p:nvPr/>
        </p:nvSpPr>
        <p:spPr>
          <a:xfrm>
            <a:off x="457200" y="457200"/>
            <a:ext cx="8229600" cy="640080"/>
          </a:xfrm>
          <a:prstGeom prst="rect">
            <a:avLst/>
          </a:prstGeom>
          <a:noFill/>
          <a:ln/>
        </p:spPr>
        <p:txBody>
          <a:bodyPr wrap="square" rtlCol="0" anchor="ctr"/>
          <a:lstStyle/>
          <a:p>
            <a:pPr marL="0" indent="0">
              <a:buNone/>
            </a:pPr>
            <a:r>
              <a:rPr lang="en-US" sz="2400" b="1" dirty="0">
                <a:solidFill>
                  <a:srgbClr val="FFFFFF"/>
                </a:solidFill>
              </a:rPr>
              <a:t>Key Features</a:t>
            </a:r>
            <a:endParaRPr lang="en-US" sz="2400" dirty="0"/>
          </a:p>
        </p:txBody>
      </p:sp>
      <p:sp>
        <p:nvSpPr>
          <p:cNvPr id="5" name="Shape 2"/>
          <p:cNvSpPr/>
          <p:nvPr/>
        </p:nvSpPr>
        <p:spPr>
          <a:xfrm>
            <a:off x="457200" y="1097280"/>
            <a:ext cx="2286000" cy="45720"/>
          </a:xfrm>
          <a:prstGeom prst="rect">
            <a:avLst/>
          </a:prstGeom>
          <a:solidFill>
            <a:srgbClr val="E10098"/>
          </a:solidFill>
          <a:ln w="12700">
            <a:solidFill>
              <a:srgbClr val="E10098"/>
            </a:solidFill>
            <a:prstDash val="solid"/>
          </a:ln>
        </p:spPr>
        <p:txBody>
          <a:bodyPr/>
          <a:lstStyle/>
          <a:p>
            <a:endParaRPr/>
          </a:p>
        </p:txBody>
      </p:sp>
      <p:sp>
        <p:nvSpPr>
          <p:cNvPr id="6" name="Shape 3"/>
          <p:cNvSpPr/>
          <p:nvPr/>
        </p:nvSpPr>
        <p:spPr>
          <a:xfrm>
            <a:off x="548640" y="1280160"/>
            <a:ext cx="457200" cy="457200"/>
          </a:xfrm>
          <a:prstGeom prst="ellipse">
            <a:avLst/>
          </a:prstGeom>
          <a:solidFill>
            <a:srgbClr val="E10098"/>
          </a:solidFill>
          <a:ln w="12700">
            <a:solidFill>
              <a:srgbClr val="E10098"/>
            </a:solidFill>
            <a:prstDash val="solid"/>
          </a:ln>
        </p:spPr>
        <p:txBody>
          <a:bodyPr/>
          <a:lstStyle/>
          <a:p>
            <a:endParaRPr/>
          </a:p>
        </p:txBody>
      </p:sp>
      <p:pic>
        <p:nvPicPr>
          <p:cNvPr id="7" name="Image 1" descr="preencoded.png"/>
          <p:cNvPicPr>
            <a:picLocks noChangeAspect="1"/>
          </p:cNvPicPr>
          <p:nvPr/>
        </p:nvPicPr>
        <p:blipFill>
          <a:blip r:embed="rId4"/>
          <a:stretch>
            <a:fillRect/>
          </a:stretch>
        </p:blipFill>
        <p:spPr>
          <a:xfrm>
            <a:off x="640080" y="1353312"/>
            <a:ext cx="274320" cy="274320"/>
          </a:xfrm>
          <a:prstGeom prst="rect">
            <a:avLst/>
          </a:prstGeom>
        </p:spPr>
      </p:pic>
      <p:sp>
        <p:nvSpPr>
          <p:cNvPr id="8" name="Text 4"/>
          <p:cNvSpPr/>
          <p:nvPr/>
        </p:nvSpPr>
        <p:spPr>
          <a:xfrm>
            <a:off x="1097280" y="1280160"/>
            <a:ext cx="1828800" cy="365760"/>
          </a:xfrm>
          <a:prstGeom prst="rect">
            <a:avLst/>
          </a:prstGeom>
          <a:noFill/>
          <a:ln/>
        </p:spPr>
        <p:txBody>
          <a:bodyPr wrap="square" rtlCol="0" anchor="ctr"/>
          <a:lstStyle/>
          <a:p>
            <a:pPr marL="0" indent="0">
              <a:buNone/>
            </a:pPr>
            <a:r>
              <a:rPr lang="en-US" sz="1600" b="1" dirty="0">
                <a:solidFill>
                  <a:srgbClr val="FFFFFF"/>
                </a:solidFill>
              </a:rPr>
              <a:t>Single Endpoint</a:t>
            </a:r>
            <a:endParaRPr lang="en-US" sz="1600" dirty="0"/>
          </a:p>
        </p:txBody>
      </p:sp>
      <p:sp>
        <p:nvSpPr>
          <p:cNvPr id="9" name="Text 5"/>
          <p:cNvSpPr/>
          <p:nvPr/>
        </p:nvSpPr>
        <p:spPr>
          <a:xfrm>
            <a:off x="1097280" y="1600200"/>
            <a:ext cx="1828800" cy="731520"/>
          </a:xfrm>
          <a:prstGeom prst="rect">
            <a:avLst/>
          </a:prstGeom>
          <a:noFill/>
          <a:ln/>
        </p:spPr>
        <p:txBody>
          <a:bodyPr wrap="square" rtlCol="0" anchor="ctr"/>
          <a:lstStyle/>
          <a:p>
            <a:pPr marL="0" indent="0">
              <a:buNone/>
            </a:pPr>
            <a:r>
              <a:rPr lang="en-US" sz="1200" dirty="0">
                <a:solidFill>
                  <a:srgbClr val="C5D0E6"/>
                </a:solidFill>
              </a:rPr>
              <a:t>One /graphql endpoint for all operations</a:t>
            </a:r>
            <a:endParaRPr lang="en-US" sz="1200" dirty="0"/>
          </a:p>
        </p:txBody>
      </p:sp>
      <p:sp>
        <p:nvSpPr>
          <p:cNvPr id="10" name="Shape 6"/>
          <p:cNvSpPr/>
          <p:nvPr/>
        </p:nvSpPr>
        <p:spPr>
          <a:xfrm>
            <a:off x="3383280" y="1280160"/>
            <a:ext cx="457200" cy="457200"/>
          </a:xfrm>
          <a:prstGeom prst="ellipse">
            <a:avLst/>
          </a:prstGeom>
          <a:solidFill>
            <a:srgbClr val="E10098"/>
          </a:solidFill>
          <a:ln w="12700">
            <a:solidFill>
              <a:srgbClr val="E10098"/>
            </a:solidFill>
            <a:prstDash val="solid"/>
          </a:ln>
        </p:spPr>
        <p:txBody>
          <a:bodyPr/>
          <a:lstStyle/>
          <a:p>
            <a:endParaRPr/>
          </a:p>
        </p:txBody>
      </p:sp>
      <p:pic>
        <p:nvPicPr>
          <p:cNvPr id="11" name="Image 2" descr="preencoded.png"/>
          <p:cNvPicPr>
            <a:picLocks noChangeAspect="1"/>
          </p:cNvPicPr>
          <p:nvPr/>
        </p:nvPicPr>
        <p:blipFill>
          <a:blip r:embed="rId5"/>
          <a:stretch>
            <a:fillRect/>
          </a:stretch>
        </p:blipFill>
        <p:spPr>
          <a:xfrm>
            <a:off x="3474720" y="1353312"/>
            <a:ext cx="274320" cy="274320"/>
          </a:xfrm>
          <a:prstGeom prst="rect">
            <a:avLst/>
          </a:prstGeom>
        </p:spPr>
      </p:pic>
      <p:sp>
        <p:nvSpPr>
          <p:cNvPr id="12" name="Text 7"/>
          <p:cNvSpPr/>
          <p:nvPr/>
        </p:nvSpPr>
        <p:spPr>
          <a:xfrm>
            <a:off x="3931920" y="1280160"/>
            <a:ext cx="1828800" cy="365760"/>
          </a:xfrm>
          <a:prstGeom prst="rect">
            <a:avLst/>
          </a:prstGeom>
          <a:noFill/>
          <a:ln/>
        </p:spPr>
        <p:txBody>
          <a:bodyPr wrap="square" rtlCol="0" anchor="ctr"/>
          <a:lstStyle/>
          <a:p>
            <a:pPr marL="0" indent="0">
              <a:buNone/>
            </a:pPr>
            <a:r>
              <a:rPr lang="en-US" sz="1600" b="1" dirty="0">
                <a:solidFill>
                  <a:srgbClr val="FFFFFF"/>
                </a:solidFill>
              </a:rPr>
              <a:t>Precise Queries</a:t>
            </a:r>
            <a:endParaRPr lang="en-US" sz="1600" dirty="0"/>
          </a:p>
        </p:txBody>
      </p:sp>
      <p:sp>
        <p:nvSpPr>
          <p:cNvPr id="13" name="Text 8"/>
          <p:cNvSpPr/>
          <p:nvPr/>
        </p:nvSpPr>
        <p:spPr>
          <a:xfrm>
            <a:off x="3931920" y="1600200"/>
            <a:ext cx="1828800" cy="731520"/>
          </a:xfrm>
          <a:prstGeom prst="rect">
            <a:avLst/>
          </a:prstGeom>
          <a:noFill/>
          <a:ln/>
        </p:spPr>
        <p:txBody>
          <a:bodyPr wrap="square" rtlCol="0" anchor="ctr"/>
          <a:lstStyle/>
          <a:p>
            <a:pPr marL="0" indent="0">
              <a:buNone/>
            </a:pPr>
            <a:r>
              <a:rPr lang="en-US" sz="1200" dirty="0">
                <a:solidFill>
                  <a:srgbClr val="C5D0E6"/>
                </a:solidFill>
              </a:rPr>
              <a:t>Ask for only the fields you need</a:t>
            </a:r>
            <a:endParaRPr lang="en-US" sz="1200" dirty="0"/>
          </a:p>
        </p:txBody>
      </p:sp>
      <p:sp>
        <p:nvSpPr>
          <p:cNvPr id="14" name="Shape 9"/>
          <p:cNvSpPr/>
          <p:nvPr/>
        </p:nvSpPr>
        <p:spPr>
          <a:xfrm>
            <a:off x="6217920" y="1280160"/>
            <a:ext cx="457200" cy="457200"/>
          </a:xfrm>
          <a:prstGeom prst="ellipse">
            <a:avLst/>
          </a:prstGeom>
          <a:solidFill>
            <a:srgbClr val="E10098"/>
          </a:solidFill>
          <a:ln w="12700">
            <a:solidFill>
              <a:srgbClr val="E10098"/>
            </a:solidFill>
            <a:prstDash val="solid"/>
          </a:ln>
        </p:spPr>
        <p:txBody>
          <a:bodyPr/>
          <a:lstStyle/>
          <a:p>
            <a:endParaRPr/>
          </a:p>
        </p:txBody>
      </p:sp>
      <p:pic>
        <p:nvPicPr>
          <p:cNvPr id="15" name="Image 3" descr="preencoded.png"/>
          <p:cNvPicPr>
            <a:picLocks noChangeAspect="1"/>
          </p:cNvPicPr>
          <p:nvPr/>
        </p:nvPicPr>
        <p:blipFill>
          <a:blip r:embed="rId6"/>
          <a:stretch>
            <a:fillRect/>
          </a:stretch>
        </p:blipFill>
        <p:spPr>
          <a:xfrm>
            <a:off x="6309360" y="1353312"/>
            <a:ext cx="274320" cy="274320"/>
          </a:xfrm>
          <a:prstGeom prst="rect">
            <a:avLst/>
          </a:prstGeom>
        </p:spPr>
      </p:pic>
      <p:sp>
        <p:nvSpPr>
          <p:cNvPr id="16" name="Text 10"/>
          <p:cNvSpPr/>
          <p:nvPr/>
        </p:nvSpPr>
        <p:spPr>
          <a:xfrm>
            <a:off x="6766560" y="1280160"/>
            <a:ext cx="1828800" cy="365760"/>
          </a:xfrm>
          <a:prstGeom prst="rect">
            <a:avLst/>
          </a:prstGeom>
          <a:noFill/>
          <a:ln/>
        </p:spPr>
        <p:txBody>
          <a:bodyPr wrap="square" rtlCol="0" anchor="ctr"/>
          <a:lstStyle/>
          <a:p>
            <a:pPr marL="0" indent="0">
              <a:buNone/>
            </a:pPr>
            <a:r>
              <a:rPr lang="en-US" sz="1600" b="1" dirty="0">
                <a:solidFill>
                  <a:srgbClr val="FFFFFF"/>
                </a:solidFill>
              </a:rPr>
              <a:t>Strong Typing &amp; Tooling</a:t>
            </a:r>
            <a:endParaRPr lang="en-US" sz="1600" dirty="0"/>
          </a:p>
        </p:txBody>
      </p:sp>
      <p:sp>
        <p:nvSpPr>
          <p:cNvPr id="17" name="Text 11"/>
          <p:cNvSpPr/>
          <p:nvPr/>
        </p:nvSpPr>
        <p:spPr>
          <a:xfrm>
            <a:off x="6766560" y="1600200"/>
            <a:ext cx="1828800" cy="731520"/>
          </a:xfrm>
          <a:prstGeom prst="rect">
            <a:avLst/>
          </a:prstGeom>
          <a:noFill/>
          <a:ln/>
        </p:spPr>
        <p:txBody>
          <a:bodyPr wrap="square" rtlCol="0" anchor="ctr"/>
          <a:lstStyle/>
          <a:p>
            <a:pPr marL="0" indent="0">
              <a:buNone/>
            </a:pPr>
            <a:r>
              <a:rPr lang="en-US" sz="1200" dirty="0">
                <a:solidFill>
                  <a:srgbClr val="C5D0E6"/>
                </a:solidFill>
              </a:rPr>
              <a:t>Explore the schema via introspection and GraphiQL</a:t>
            </a:r>
            <a:endParaRPr lang="en-US" sz="1200" dirty="0"/>
          </a:p>
        </p:txBody>
      </p:sp>
      <p:sp>
        <p:nvSpPr>
          <p:cNvPr id="18" name="Text 12"/>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7"/>
              </a:rPr>
              <a:t>[1]</a:t>
            </a:r>
            <a:r>
              <a:rPr lang="en-US" sz="600" dirty="0">
                <a:solidFill>
                  <a:srgbClr val="000000"/>
                </a:solidFill>
              </a:rPr>
              <a:t>   </a:t>
            </a:r>
            <a:r>
              <a:rPr lang="en-US" sz="600" u="sng" dirty="0">
                <a:solidFill>
                  <a:srgbClr val="00B0F0"/>
                </a:solidFill>
                <a:hlinkClick r:id="rId8"/>
              </a:rPr>
              <a:t>[2]</a:t>
            </a:r>
            <a:r>
              <a:rPr lang="en-US" sz="600" dirty="0">
                <a:solidFill>
                  <a:srgbClr val="000000"/>
                </a:solidFill>
              </a:rPr>
              <a:t>   </a:t>
            </a:r>
            <a:r>
              <a:rPr lang="en-US" sz="600" u="sng" dirty="0">
                <a:solidFill>
                  <a:srgbClr val="00B0F0"/>
                </a:solidFill>
                <a:hlinkClick r:id="rId9"/>
              </a:rPr>
              <a:t>[3]</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oai/share/50e89b73-047e-436e-b032-0e33c81c2bcf.png"/>
          <p:cNvPicPr>
            <a:picLocks noChangeAspect="1"/>
          </p:cNvPicPr>
          <p:nvPr/>
        </p:nvPicPr>
        <p:blipFill>
          <a:blip r:embed="rId3"/>
          <a:srcRect t="21875" b="21875"/>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0000"/>
            </a:srgbClr>
          </a:solidFill>
          <a:ln/>
        </p:spPr>
        <p:txBody>
          <a:bodyPr/>
          <a:lstStyle/>
          <a:p>
            <a:endParaRPr/>
          </a:p>
        </p:txBody>
      </p:sp>
      <p:sp>
        <p:nvSpPr>
          <p:cNvPr id="4" name="Text 1"/>
          <p:cNvSpPr/>
          <p:nvPr/>
        </p:nvSpPr>
        <p:spPr>
          <a:xfrm>
            <a:off x="457200" y="457200"/>
            <a:ext cx="8229600" cy="548640"/>
          </a:xfrm>
          <a:prstGeom prst="rect">
            <a:avLst/>
          </a:prstGeom>
          <a:noFill/>
          <a:ln/>
        </p:spPr>
        <p:txBody>
          <a:bodyPr wrap="square" rtlCol="0" anchor="ctr"/>
          <a:lstStyle/>
          <a:p>
            <a:pPr marL="0" indent="0">
              <a:buNone/>
            </a:pPr>
            <a:r>
              <a:rPr lang="en-US" sz="2400" b="1" dirty="0">
                <a:solidFill>
                  <a:srgbClr val="FFFFFF"/>
                </a:solidFill>
              </a:rPr>
              <a:t>Schema Overview</a:t>
            </a:r>
            <a:endParaRPr lang="en-US" sz="2400" dirty="0"/>
          </a:p>
        </p:txBody>
      </p:sp>
      <p:sp>
        <p:nvSpPr>
          <p:cNvPr id="5" name="Shape 2"/>
          <p:cNvSpPr/>
          <p:nvPr/>
        </p:nvSpPr>
        <p:spPr>
          <a:xfrm>
            <a:off x="4023360" y="1714500"/>
            <a:ext cx="1097280" cy="548640"/>
          </a:xfrm>
          <a:prstGeom prst="roundRect">
            <a:avLst>
              <a:gd name="adj" fmla="val 16667"/>
            </a:avLst>
          </a:prstGeom>
          <a:solidFill>
            <a:srgbClr val="E10098"/>
          </a:solidFill>
          <a:ln w="12700">
            <a:solidFill>
              <a:srgbClr val="E10098"/>
            </a:solidFill>
            <a:prstDash val="solid"/>
          </a:ln>
        </p:spPr>
        <p:txBody>
          <a:bodyPr/>
          <a:lstStyle/>
          <a:p>
            <a:pPr algn="ctr"/>
            <a:endParaRPr/>
          </a:p>
        </p:txBody>
      </p:sp>
      <p:sp>
        <p:nvSpPr>
          <p:cNvPr id="6" name="Text 3"/>
          <p:cNvSpPr/>
          <p:nvPr/>
        </p:nvSpPr>
        <p:spPr>
          <a:xfrm>
            <a:off x="4023360" y="1714500"/>
            <a:ext cx="1097280" cy="548640"/>
          </a:xfrm>
          <a:prstGeom prst="rect">
            <a:avLst/>
          </a:prstGeom>
          <a:noFill/>
          <a:ln/>
        </p:spPr>
        <p:txBody>
          <a:bodyPr wrap="square" rtlCol="0" anchor="ctr"/>
          <a:lstStyle/>
          <a:p>
            <a:pPr marL="0" indent="0" algn="ctr">
              <a:buNone/>
            </a:pPr>
            <a:r>
              <a:rPr lang="en-US" sz="1600" b="1" dirty="0">
                <a:solidFill>
                  <a:srgbClr val="FFFFFF"/>
                </a:solidFill>
              </a:rPr>
              <a:t>Query</a:t>
            </a:r>
            <a:endParaRPr lang="en-US" sz="1600" dirty="0"/>
          </a:p>
        </p:txBody>
      </p:sp>
      <p:sp>
        <p:nvSpPr>
          <p:cNvPr id="7" name="Shape 4"/>
          <p:cNvSpPr/>
          <p:nvPr/>
        </p:nvSpPr>
        <p:spPr>
          <a:xfrm flipH="1">
            <a:off x="1920239" y="2263140"/>
            <a:ext cx="2651755" cy="1394460"/>
          </a:xfrm>
          <a:prstGeom prst="line">
            <a:avLst/>
          </a:prstGeom>
          <a:noFill/>
          <a:ln w="12700">
            <a:solidFill>
              <a:srgbClr val="00B0F0"/>
            </a:solidFill>
            <a:prstDash val="solid"/>
          </a:ln>
        </p:spPr>
        <p:txBody>
          <a:bodyPr/>
          <a:lstStyle/>
          <a:p>
            <a:endParaRPr/>
          </a:p>
        </p:txBody>
      </p:sp>
      <p:sp>
        <p:nvSpPr>
          <p:cNvPr id="8" name="Shape 5"/>
          <p:cNvSpPr/>
          <p:nvPr/>
        </p:nvSpPr>
        <p:spPr>
          <a:xfrm>
            <a:off x="1280160" y="3657600"/>
            <a:ext cx="1463040" cy="502920"/>
          </a:xfrm>
          <a:prstGeom prst="roundRect">
            <a:avLst>
              <a:gd name="adj" fmla="val 18182"/>
            </a:avLst>
          </a:prstGeom>
          <a:solidFill>
            <a:srgbClr val="0F2142"/>
          </a:solidFill>
          <a:ln w="12700">
            <a:solidFill>
              <a:srgbClr val="00B0F0"/>
            </a:solidFill>
            <a:prstDash val="solid"/>
          </a:ln>
        </p:spPr>
        <p:txBody>
          <a:bodyPr/>
          <a:lstStyle/>
          <a:p>
            <a:endParaRPr/>
          </a:p>
        </p:txBody>
      </p:sp>
      <p:sp>
        <p:nvSpPr>
          <p:cNvPr id="9" name="Shape 6"/>
          <p:cNvSpPr/>
          <p:nvPr/>
        </p:nvSpPr>
        <p:spPr>
          <a:xfrm>
            <a:off x="731520" y="3657600"/>
            <a:ext cx="457200" cy="457200"/>
          </a:xfrm>
          <a:prstGeom prst="ellipse">
            <a:avLst/>
          </a:prstGeom>
          <a:solidFill>
            <a:srgbClr val="0070BA"/>
          </a:solidFill>
          <a:ln w="12700">
            <a:solidFill>
              <a:srgbClr val="0070BA"/>
            </a:solidFill>
            <a:prstDash val="solid"/>
          </a:ln>
        </p:spPr>
        <p:txBody>
          <a:bodyPr/>
          <a:lstStyle/>
          <a:p>
            <a:endParaRPr/>
          </a:p>
        </p:txBody>
      </p:sp>
      <p:pic>
        <p:nvPicPr>
          <p:cNvPr id="10" name="Image 1" descr="preencoded.png"/>
          <p:cNvPicPr>
            <a:picLocks noChangeAspect="1"/>
          </p:cNvPicPr>
          <p:nvPr/>
        </p:nvPicPr>
        <p:blipFill>
          <a:blip r:embed="rId4"/>
          <a:stretch>
            <a:fillRect/>
          </a:stretch>
        </p:blipFill>
        <p:spPr>
          <a:xfrm>
            <a:off x="822960" y="3749040"/>
            <a:ext cx="274320" cy="274320"/>
          </a:xfrm>
          <a:prstGeom prst="rect">
            <a:avLst/>
          </a:prstGeom>
        </p:spPr>
      </p:pic>
      <p:sp>
        <p:nvSpPr>
          <p:cNvPr id="11" name="Text 7"/>
          <p:cNvSpPr/>
          <p:nvPr/>
        </p:nvSpPr>
        <p:spPr>
          <a:xfrm>
            <a:off x="1280160" y="3657600"/>
            <a:ext cx="1463040" cy="502920"/>
          </a:xfrm>
          <a:prstGeom prst="rect">
            <a:avLst/>
          </a:prstGeom>
          <a:noFill/>
          <a:ln/>
        </p:spPr>
        <p:txBody>
          <a:bodyPr wrap="square" rtlCol="0" anchor="ctr"/>
          <a:lstStyle/>
          <a:p>
            <a:pPr marL="0" indent="0" algn="ctr">
              <a:buNone/>
            </a:pPr>
            <a:r>
              <a:rPr lang="en-US" sz="1200" b="1" dirty="0">
                <a:solidFill>
                  <a:srgbClr val="FFFFFF"/>
                </a:solidFill>
              </a:rPr>
              <a:t>Customer</a:t>
            </a:r>
            <a:endParaRPr lang="en-US" sz="1200" dirty="0"/>
          </a:p>
        </p:txBody>
      </p:sp>
      <p:sp>
        <p:nvSpPr>
          <p:cNvPr id="12" name="Shape 8"/>
          <p:cNvSpPr/>
          <p:nvPr/>
        </p:nvSpPr>
        <p:spPr>
          <a:xfrm>
            <a:off x="4572000" y="2263140"/>
            <a:ext cx="0" cy="1394460"/>
          </a:xfrm>
          <a:prstGeom prst="line">
            <a:avLst/>
          </a:prstGeom>
          <a:noFill/>
          <a:ln w="12700">
            <a:solidFill>
              <a:srgbClr val="00B0F0"/>
            </a:solidFill>
            <a:prstDash val="solid"/>
          </a:ln>
        </p:spPr>
        <p:txBody>
          <a:bodyPr/>
          <a:lstStyle/>
          <a:p>
            <a:endParaRPr/>
          </a:p>
        </p:txBody>
      </p:sp>
      <p:sp>
        <p:nvSpPr>
          <p:cNvPr id="13" name="Shape 9"/>
          <p:cNvSpPr/>
          <p:nvPr/>
        </p:nvSpPr>
        <p:spPr>
          <a:xfrm>
            <a:off x="3840480" y="3657600"/>
            <a:ext cx="1463040" cy="502920"/>
          </a:xfrm>
          <a:prstGeom prst="roundRect">
            <a:avLst>
              <a:gd name="adj" fmla="val 18182"/>
            </a:avLst>
          </a:prstGeom>
          <a:solidFill>
            <a:srgbClr val="0F2142"/>
          </a:solidFill>
          <a:ln w="12700">
            <a:solidFill>
              <a:srgbClr val="00B0F0"/>
            </a:solidFill>
            <a:prstDash val="solid"/>
          </a:ln>
        </p:spPr>
        <p:txBody>
          <a:bodyPr/>
          <a:lstStyle/>
          <a:p>
            <a:endParaRPr/>
          </a:p>
        </p:txBody>
      </p:sp>
      <p:sp>
        <p:nvSpPr>
          <p:cNvPr id="14" name="Shape 10"/>
          <p:cNvSpPr/>
          <p:nvPr/>
        </p:nvSpPr>
        <p:spPr>
          <a:xfrm>
            <a:off x="3291840" y="3657600"/>
            <a:ext cx="457200" cy="457200"/>
          </a:xfrm>
          <a:prstGeom prst="ellipse">
            <a:avLst/>
          </a:prstGeom>
          <a:solidFill>
            <a:srgbClr val="0070BA"/>
          </a:solidFill>
          <a:ln w="12700">
            <a:solidFill>
              <a:srgbClr val="0070BA"/>
            </a:solidFill>
            <a:prstDash val="solid"/>
          </a:ln>
        </p:spPr>
        <p:txBody>
          <a:bodyPr/>
          <a:lstStyle/>
          <a:p>
            <a:endParaRPr/>
          </a:p>
        </p:txBody>
      </p:sp>
      <p:pic>
        <p:nvPicPr>
          <p:cNvPr id="15" name="Image 2" descr="preencoded.png"/>
          <p:cNvPicPr>
            <a:picLocks noChangeAspect="1"/>
          </p:cNvPicPr>
          <p:nvPr/>
        </p:nvPicPr>
        <p:blipFill>
          <a:blip r:embed="rId5"/>
          <a:stretch>
            <a:fillRect/>
          </a:stretch>
        </p:blipFill>
        <p:spPr>
          <a:xfrm>
            <a:off x="3383280" y="3749040"/>
            <a:ext cx="274320" cy="274320"/>
          </a:xfrm>
          <a:prstGeom prst="rect">
            <a:avLst/>
          </a:prstGeom>
        </p:spPr>
      </p:pic>
      <p:sp>
        <p:nvSpPr>
          <p:cNvPr id="16" name="Text 11"/>
          <p:cNvSpPr/>
          <p:nvPr/>
        </p:nvSpPr>
        <p:spPr>
          <a:xfrm>
            <a:off x="3840480" y="3657600"/>
            <a:ext cx="1463040" cy="502920"/>
          </a:xfrm>
          <a:prstGeom prst="rect">
            <a:avLst/>
          </a:prstGeom>
          <a:noFill/>
          <a:ln/>
        </p:spPr>
        <p:txBody>
          <a:bodyPr wrap="square" rtlCol="0" anchor="ctr"/>
          <a:lstStyle/>
          <a:p>
            <a:pPr marL="0" indent="0" algn="ctr">
              <a:buNone/>
            </a:pPr>
            <a:r>
              <a:rPr lang="en-US" sz="1200" b="1" dirty="0">
                <a:solidFill>
                  <a:srgbClr val="FFFFFF"/>
                </a:solidFill>
              </a:rPr>
              <a:t>PaymentMethod</a:t>
            </a:r>
            <a:endParaRPr lang="en-US" sz="1200" dirty="0"/>
          </a:p>
        </p:txBody>
      </p:sp>
      <p:sp>
        <p:nvSpPr>
          <p:cNvPr id="17" name="Shape 12"/>
          <p:cNvSpPr/>
          <p:nvPr/>
        </p:nvSpPr>
        <p:spPr>
          <a:xfrm>
            <a:off x="4572000" y="2263140"/>
            <a:ext cx="2560320" cy="1394460"/>
          </a:xfrm>
          <a:prstGeom prst="line">
            <a:avLst/>
          </a:prstGeom>
          <a:noFill/>
          <a:ln w="12700">
            <a:solidFill>
              <a:srgbClr val="00B0F0"/>
            </a:solidFill>
            <a:prstDash val="solid"/>
          </a:ln>
        </p:spPr>
        <p:txBody>
          <a:bodyPr/>
          <a:lstStyle/>
          <a:p>
            <a:endParaRPr/>
          </a:p>
        </p:txBody>
      </p:sp>
      <p:sp>
        <p:nvSpPr>
          <p:cNvPr id="18" name="Shape 13"/>
          <p:cNvSpPr/>
          <p:nvPr/>
        </p:nvSpPr>
        <p:spPr>
          <a:xfrm>
            <a:off x="6400800" y="3657600"/>
            <a:ext cx="1463040" cy="502920"/>
          </a:xfrm>
          <a:prstGeom prst="roundRect">
            <a:avLst>
              <a:gd name="adj" fmla="val 18182"/>
            </a:avLst>
          </a:prstGeom>
          <a:solidFill>
            <a:srgbClr val="0F2142"/>
          </a:solidFill>
          <a:ln w="12700">
            <a:solidFill>
              <a:srgbClr val="00B0F0"/>
            </a:solidFill>
            <a:prstDash val="solid"/>
          </a:ln>
        </p:spPr>
        <p:txBody>
          <a:bodyPr/>
          <a:lstStyle/>
          <a:p>
            <a:endParaRPr/>
          </a:p>
        </p:txBody>
      </p:sp>
      <p:sp>
        <p:nvSpPr>
          <p:cNvPr id="19" name="Shape 14"/>
          <p:cNvSpPr/>
          <p:nvPr/>
        </p:nvSpPr>
        <p:spPr>
          <a:xfrm>
            <a:off x="5852160" y="3657600"/>
            <a:ext cx="457200" cy="457200"/>
          </a:xfrm>
          <a:prstGeom prst="ellipse">
            <a:avLst/>
          </a:prstGeom>
          <a:solidFill>
            <a:srgbClr val="0070BA"/>
          </a:solidFill>
          <a:ln w="12700">
            <a:solidFill>
              <a:srgbClr val="0070BA"/>
            </a:solidFill>
            <a:prstDash val="solid"/>
          </a:ln>
        </p:spPr>
        <p:txBody>
          <a:bodyPr/>
          <a:lstStyle/>
          <a:p>
            <a:endParaRPr/>
          </a:p>
        </p:txBody>
      </p:sp>
      <p:pic>
        <p:nvPicPr>
          <p:cNvPr id="20" name="Image 3" descr="preencoded.png"/>
          <p:cNvPicPr>
            <a:picLocks noChangeAspect="1"/>
          </p:cNvPicPr>
          <p:nvPr/>
        </p:nvPicPr>
        <p:blipFill>
          <a:blip r:embed="rId6"/>
          <a:stretch>
            <a:fillRect/>
          </a:stretch>
        </p:blipFill>
        <p:spPr>
          <a:xfrm>
            <a:off x="5943600" y="3749040"/>
            <a:ext cx="274320" cy="274320"/>
          </a:xfrm>
          <a:prstGeom prst="rect">
            <a:avLst/>
          </a:prstGeom>
        </p:spPr>
      </p:pic>
      <p:sp>
        <p:nvSpPr>
          <p:cNvPr id="21" name="Text 15"/>
          <p:cNvSpPr/>
          <p:nvPr/>
        </p:nvSpPr>
        <p:spPr>
          <a:xfrm>
            <a:off x="6400800" y="3657600"/>
            <a:ext cx="1463040" cy="502920"/>
          </a:xfrm>
          <a:prstGeom prst="rect">
            <a:avLst/>
          </a:prstGeom>
          <a:noFill/>
          <a:ln/>
        </p:spPr>
        <p:txBody>
          <a:bodyPr wrap="square" rtlCol="0" anchor="ctr"/>
          <a:lstStyle/>
          <a:p>
            <a:pPr marL="0" indent="0" algn="ctr">
              <a:buNone/>
            </a:pPr>
            <a:r>
              <a:rPr lang="en-US" sz="1200" b="1" dirty="0">
                <a:solidFill>
                  <a:srgbClr val="FFFFFF"/>
                </a:solidFill>
              </a:rPr>
              <a:t>Transaction</a:t>
            </a:r>
            <a:endParaRPr lang="en-US" sz="1200" dirty="0"/>
          </a:p>
        </p:txBody>
      </p:sp>
      <p:sp>
        <p:nvSpPr>
          <p:cNvPr id="22" name="Text 16"/>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7"/>
              </a:rPr>
              <a:t>[1]</a:t>
            </a:r>
            <a:r>
              <a:rPr lang="en-US" sz="600" dirty="0">
                <a:solidFill>
                  <a:srgbClr val="000000"/>
                </a:solidFill>
              </a:rPr>
              <a:t>   </a:t>
            </a:r>
            <a:r>
              <a:rPr lang="en-US" sz="600" u="sng" dirty="0">
                <a:solidFill>
                  <a:srgbClr val="00B0F0"/>
                </a:solidFill>
                <a:hlinkClick r:id="rId8"/>
              </a:rPr>
              <a:t>[2]</a:t>
            </a:r>
            <a:r>
              <a:rPr lang="en-US" sz="600" dirty="0">
                <a:solidFill>
                  <a:srgbClr val="000000"/>
                </a:solidFill>
              </a:rPr>
              <a:t>   </a:t>
            </a:r>
            <a:r>
              <a:rPr lang="en-US" sz="600" u="sng" dirty="0">
                <a:solidFill>
                  <a:srgbClr val="00B0F0"/>
                </a:solidFill>
                <a:hlinkClick r:id="rId9"/>
              </a:rPr>
              <a:t>[3]</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p:spPr>
        <p:txBody>
          <a:bodyPr/>
          <a:lstStyle/>
          <a:p>
            <a:endParaRPr/>
          </a:p>
        </p:txBody>
      </p:sp>
      <p:sp>
        <p:nvSpPr>
          <p:cNvPr id="4" name="Text 1"/>
          <p:cNvSpPr/>
          <p:nvPr/>
        </p:nvSpPr>
        <p:spPr>
          <a:xfrm>
            <a:off x="457200" y="457200"/>
            <a:ext cx="8229600" cy="548640"/>
          </a:xfrm>
          <a:prstGeom prst="rect">
            <a:avLst/>
          </a:prstGeom>
          <a:noFill/>
          <a:ln/>
        </p:spPr>
        <p:txBody>
          <a:bodyPr wrap="square" rtlCol="0" anchor="ctr"/>
          <a:lstStyle/>
          <a:p>
            <a:pPr marL="0" indent="0">
              <a:buNone/>
            </a:pPr>
            <a:r>
              <a:rPr lang="en-US" sz="2400" b="1" dirty="0">
                <a:solidFill>
                  <a:srgbClr val="FFFFFF"/>
                </a:solidFill>
              </a:rPr>
              <a:t>Query Examples</a:t>
            </a:r>
            <a:endParaRPr lang="en-US" sz="2400" dirty="0"/>
          </a:p>
        </p:txBody>
      </p:sp>
      <p:sp>
        <p:nvSpPr>
          <p:cNvPr id="5" name="Shape 2"/>
          <p:cNvSpPr/>
          <p:nvPr/>
        </p:nvSpPr>
        <p:spPr>
          <a:xfrm>
            <a:off x="457200" y="1280160"/>
            <a:ext cx="4389120" cy="2560320"/>
          </a:xfrm>
          <a:prstGeom prst="roundRect">
            <a:avLst>
              <a:gd name="adj" fmla="val 1786"/>
            </a:avLst>
          </a:prstGeom>
          <a:solidFill>
            <a:srgbClr val="0F2142"/>
          </a:solidFill>
          <a:ln w="12700">
            <a:solidFill>
              <a:srgbClr val="E10098"/>
            </a:solidFill>
            <a:prstDash val="solid"/>
          </a:ln>
        </p:spPr>
        <p:txBody>
          <a:bodyPr/>
          <a:lstStyle/>
          <a:p>
            <a:endParaRPr/>
          </a:p>
        </p:txBody>
      </p:sp>
      <p:sp>
        <p:nvSpPr>
          <p:cNvPr id="6" name="Text 3"/>
          <p:cNvSpPr/>
          <p:nvPr/>
        </p:nvSpPr>
        <p:spPr>
          <a:xfrm>
            <a:off x="502920" y="1325880"/>
            <a:ext cx="4297680" cy="2468880"/>
          </a:xfrm>
          <a:prstGeom prst="rect">
            <a:avLst/>
          </a:prstGeom>
          <a:noFill/>
          <a:ln/>
        </p:spPr>
        <p:txBody>
          <a:bodyPr wrap="square" lIns="1270" tIns="1270" rIns="1270" bIns="1270" rtlCol="0" anchor="ctr"/>
          <a:lstStyle/>
          <a:p>
            <a:pPr marL="0" indent="0">
              <a:buNone/>
            </a:pPr>
            <a:r>
              <a:rPr lang="en-US" sz="1000" b="1" dirty="0">
                <a:solidFill>
                  <a:srgbClr val="E10098"/>
                </a:solidFill>
                <a:latin typeface="Courier New" pitchFamily="34" charset="0"/>
                <a:ea typeface="Courier New" pitchFamily="34" charset="-122"/>
                <a:cs typeface="Courier New" pitchFamily="34" charset="-120"/>
              </a:rPr>
              <a:t>query </a:t>
            </a:r>
            <a:r>
              <a:rPr lang="en-US" sz="1000" dirty="0">
                <a:solidFill>
                  <a:srgbClr val="FFFFFF"/>
                </a:solidFill>
                <a:latin typeface="Courier New" pitchFamily="34" charset="0"/>
                <a:ea typeface="Courier New" pitchFamily="34" charset="-122"/>
                <a:cs typeface="Courier New" pitchFamily="34" charset="-120"/>
              </a:rPr>
              <a:t>GetCustomerWithTransactions {
  customer(id: "123") {
    id
    name
    transactions(last: 3) { id amount status }
  }
}</a:t>
            </a:r>
            <a:endParaRPr lang="en-US" sz="1000" dirty="0"/>
          </a:p>
        </p:txBody>
      </p:sp>
      <p:sp>
        <p:nvSpPr>
          <p:cNvPr id="7" name="Shape 4"/>
          <p:cNvSpPr/>
          <p:nvPr/>
        </p:nvSpPr>
        <p:spPr>
          <a:xfrm>
            <a:off x="5120640" y="1463040"/>
            <a:ext cx="365760" cy="365760"/>
          </a:xfrm>
          <a:prstGeom prst="ellipse">
            <a:avLst/>
          </a:prstGeom>
          <a:solidFill>
            <a:srgbClr val="0070BA"/>
          </a:solidFill>
          <a:ln w="12700">
            <a:solidFill>
              <a:srgbClr val="0070BA"/>
            </a:solidFill>
            <a:prstDash val="solid"/>
          </a:ln>
        </p:spPr>
        <p:txBody>
          <a:bodyPr/>
          <a:lstStyle/>
          <a:p>
            <a:endParaRPr/>
          </a:p>
        </p:txBody>
      </p:sp>
      <p:pic>
        <p:nvPicPr>
          <p:cNvPr id="8" name="Image 1" descr="preencoded.png"/>
          <p:cNvPicPr>
            <a:picLocks noChangeAspect="1"/>
          </p:cNvPicPr>
          <p:nvPr/>
        </p:nvPicPr>
        <p:blipFill>
          <a:blip r:embed="rId4"/>
          <a:stretch>
            <a:fillRect/>
          </a:stretch>
        </p:blipFill>
        <p:spPr>
          <a:xfrm>
            <a:off x="5212080" y="1508760"/>
            <a:ext cx="274320" cy="274320"/>
          </a:xfrm>
          <a:prstGeom prst="rect">
            <a:avLst/>
          </a:prstGeom>
        </p:spPr>
      </p:pic>
      <p:sp>
        <p:nvSpPr>
          <p:cNvPr id="9" name="Shape 5"/>
          <p:cNvSpPr/>
          <p:nvPr/>
        </p:nvSpPr>
        <p:spPr>
          <a:xfrm>
            <a:off x="5577840" y="1417320"/>
            <a:ext cx="3108960" cy="548640"/>
          </a:xfrm>
          <a:prstGeom prst="roundRect">
            <a:avLst>
              <a:gd name="adj" fmla="val 8333"/>
            </a:avLst>
          </a:prstGeom>
          <a:solidFill>
            <a:srgbClr val="0F2142"/>
          </a:solidFill>
          <a:ln w="12700">
            <a:solidFill>
              <a:srgbClr val="00B0F0"/>
            </a:solidFill>
            <a:prstDash val="solid"/>
          </a:ln>
        </p:spPr>
        <p:txBody>
          <a:bodyPr/>
          <a:lstStyle/>
          <a:p>
            <a:endParaRPr/>
          </a:p>
        </p:txBody>
      </p:sp>
      <p:sp>
        <p:nvSpPr>
          <p:cNvPr id="10" name="Text 6"/>
          <p:cNvSpPr/>
          <p:nvPr/>
        </p:nvSpPr>
        <p:spPr>
          <a:xfrm>
            <a:off x="5669280" y="1463040"/>
            <a:ext cx="2926080" cy="228600"/>
          </a:xfrm>
          <a:prstGeom prst="rect">
            <a:avLst/>
          </a:prstGeom>
          <a:noFill/>
          <a:ln/>
        </p:spPr>
        <p:txBody>
          <a:bodyPr wrap="square" rtlCol="0" anchor="ctr"/>
          <a:lstStyle/>
          <a:p>
            <a:pPr marL="0" indent="0">
              <a:buNone/>
            </a:pPr>
            <a:r>
              <a:rPr lang="en-US" sz="1600" b="1" dirty="0">
                <a:solidFill>
                  <a:srgbClr val="FFFFFF"/>
                </a:solidFill>
              </a:rPr>
              <a:t>Customer Info</a:t>
            </a:r>
            <a:endParaRPr lang="en-US" sz="1600" dirty="0"/>
          </a:p>
        </p:txBody>
      </p:sp>
      <p:sp>
        <p:nvSpPr>
          <p:cNvPr id="11" name="Text 7"/>
          <p:cNvSpPr/>
          <p:nvPr/>
        </p:nvSpPr>
        <p:spPr>
          <a:xfrm>
            <a:off x="5669280" y="1691640"/>
            <a:ext cx="2926080" cy="320040"/>
          </a:xfrm>
          <a:prstGeom prst="rect">
            <a:avLst/>
          </a:prstGeom>
          <a:noFill/>
          <a:ln/>
        </p:spPr>
        <p:txBody>
          <a:bodyPr wrap="square" rtlCol="0" anchor="ctr"/>
          <a:lstStyle/>
          <a:p>
            <a:pPr marL="0" indent="0">
              <a:buNone/>
            </a:pPr>
            <a:r>
              <a:rPr lang="en-US" sz="1200" dirty="0">
                <a:solidFill>
                  <a:srgbClr val="C5D0E6"/>
                </a:solidFill>
              </a:rPr>
              <a:t>Retrieve id &amp; name</a:t>
            </a:r>
            <a:endParaRPr lang="en-US" sz="1200" dirty="0"/>
          </a:p>
        </p:txBody>
      </p:sp>
      <p:sp>
        <p:nvSpPr>
          <p:cNvPr id="12" name="Shape 8"/>
          <p:cNvSpPr/>
          <p:nvPr/>
        </p:nvSpPr>
        <p:spPr>
          <a:xfrm>
            <a:off x="5120640" y="2194560"/>
            <a:ext cx="365760" cy="365760"/>
          </a:xfrm>
          <a:prstGeom prst="ellipse">
            <a:avLst/>
          </a:prstGeom>
          <a:solidFill>
            <a:srgbClr val="0070BA"/>
          </a:solidFill>
          <a:ln w="12700">
            <a:solidFill>
              <a:srgbClr val="0070BA"/>
            </a:solidFill>
            <a:prstDash val="solid"/>
          </a:ln>
        </p:spPr>
        <p:txBody>
          <a:bodyPr/>
          <a:lstStyle/>
          <a:p>
            <a:endParaRPr/>
          </a:p>
        </p:txBody>
      </p:sp>
      <p:pic>
        <p:nvPicPr>
          <p:cNvPr id="13" name="Image 2" descr="preencoded.png"/>
          <p:cNvPicPr>
            <a:picLocks noChangeAspect="1"/>
          </p:cNvPicPr>
          <p:nvPr/>
        </p:nvPicPr>
        <p:blipFill>
          <a:blip r:embed="rId5"/>
          <a:stretch>
            <a:fillRect/>
          </a:stretch>
        </p:blipFill>
        <p:spPr>
          <a:xfrm>
            <a:off x="5212080" y="2240280"/>
            <a:ext cx="274320" cy="274320"/>
          </a:xfrm>
          <a:prstGeom prst="rect">
            <a:avLst/>
          </a:prstGeom>
        </p:spPr>
      </p:pic>
      <p:sp>
        <p:nvSpPr>
          <p:cNvPr id="14" name="Shape 9"/>
          <p:cNvSpPr/>
          <p:nvPr/>
        </p:nvSpPr>
        <p:spPr>
          <a:xfrm>
            <a:off x="5577840" y="2148840"/>
            <a:ext cx="3108960" cy="548640"/>
          </a:xfrm>
          <a:prstGeom prst="roundRect">
            <a:avLst>
              <a:gd name="adj" fmla="val 8333"/>
            </a:avLst>
          </a:prstGeom>
          <a:solidFill>
            <a:srgbClr val="0F2142"/>
          </a:solidFill>
          <a:ln w="12700">
            <a:solidFill>
              <a:srgbClr val="00B0F0"/>
            </a:solidFill>
            <a:prstDash val="solid"/>
          </a:ln>
        </p:spPr>
        <p:txBody>
          <a:bodyPr/>
          <a:lstStyle/>
          <a:p>
            <a:endParaRPr/>
          </a:p>
        </p:txBody>
      </p:sp>
      <p:sp>
        <p:nvSpPr>
          <p:cNvPr id="15" name="Text 10"/>
          <p:cNvSpPr/>
          <p:nvPr/>
        </p:nvSpPr>
        <p:spPr>
          <a:xfrm>
            <a:off x="5669280" y="2194560"/>
            <a:ext cx="2926080" cy="228600"/>
          </a:xfrm>
          <a:prstGeom prst="rect">
            <a:avLst/>
          </a:prstGeom>
          <a:noFill/>
          <a:ln/>
        </p:spPr>
        <p:txBody>
          <a:bodyPr wrap="square" rtlCol="0" anchor="ctr"/>
          <a:lstStyle/>
          <a:p>
            <a:pPr marL="0" indent="0">
              <a:buNone/>
            </a:pPr>
            <a:r>
              <a:rPr lang="en-US" sz="1600" b="1" dirty="0">
                <a:solidFill>
                  <a:srgbClr val="FFFFFF"/>
                </a:solidFill>
              </a:rPr>
              <a:t>Latest Transactions</a:t>
            </a:r>
            <a:endParaRPr lang="en-US" sz="1600" dirty="0"/>
          </a:p>
        </p:txBody>
      </p:sp>
      <p:sp>
        <p:nvSpPr>
          <p:cNvPr id="16" name="Text 11"/>
          <p:cNvSpPr/>
          <p:nvPr/>
        </p:nvSpPr>
        <p:spPr>
          <a:xfrm>
            <a:off x="5669280" y="2423160"/>
            <a:ext cx="2926080" cy="320040"/>
          </a:xfrm>
          <a:prstGeom prst="rect">
            <a:avLst/>
          </a:prstGeom>
          <a:noFill/>
          <a:ln/>
        </p:spPr>
        <p:txBody>
          <a:bodyPr wrap="square" rtlCol="0" anchor="ctr"/>
          <a:lstStyle/>
          <a:p>
            <a:pPr marL="0" indent="0">
              <a:buNone/>
            </a:pPr>
            <a:r>
              <a:rPr lang="en-US" sz="1200" dirty="0">
                <a:solidFill>
                  <a:srgbClr val="C5D0E6"/>
                </a:solidFill>
              </a:rPr>
              <a:t>Get last 3 with amount &amp; status</a:t>
            </a:r>
            <a:endParaRPr lang="en-US" sz="1200" dirty="0"/>
          </a:p>
        </p:txBody>
      </p:sp>
      <p:sp>
        <p:nvSpPr>
          <p:cNvPr id="17" name="Text 12"/>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6"/>
              </a:rPr>
              <a:t>[1]</a:t>
            </a:r>
            <a:r>
              <a:rPr lang="en-US" sz="600" dirty="0">
                <a:solidFill>
                  <a:srgbClr val="000000"/>
                </a:solidFill>
              </a:rPr>
              <a:t>   </a:t>
            </a:r>
            <a:r>
              <a:rPr lang="en-US" sz="600" u="sng" dirty="0">
                <a:solidFill>
                  <a:srgbClr val="00B0F0"/>
                </a:solidFill>
                <a:hlinkClick r:id="rId7"/>
              </a:rPr>
              <a:t>[2]</a:t>
            </a:r>
            <a:r>
              <a:rPr lang="en-US" sz="600" dirty="0">
                <a:solidFill>
                  <a:srgbClr val="000000"/>
                </a:solidFill>
              </a:rPr>
              <a:t>   </a:t>
            </a:r>
            <a:r>
              <a:rPr lang="en-US" sz="600" u="sng" dirty="0">
                <a:solidFill>
                  <a:srgbClr val="00B0F0"/>
                </a:solidFill>
                <a:hlinkClick r:id="rId8"/>
              </a:rPr>
              <a:t>[3]</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oai/share/background_content.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15000"/>
            </a:srgbClr>
          </a:solidFill>
          <a:ln w="12700">
            <a:solidFill>
              <a:srgbClr val="000000"/>
            </a:solidFill>
            <a:prstDash val="solid"/>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Handling Responses &amp; Errors</a:t>
            </a:r>
            <a:endParaRPr lang="en-US" sz="2600" dirty="0"/>
          </a:p>
        </p:txBody>
      </p:sp>
      <p:sp>
        <p:nvSpPr>
          <p:cNvPr id="5" name="Shape 2"/>
          <p:cNvSpPr/>
          <p:nvPr/>
        </p:nvSpPr>
        <p:spPr>
          <a:xfrm>
            <a:off x="457200" y="914400"/>
            <a:ext cx="2560320" cy="2286000"/>
          </a:xfrm>
          <a:prstGeom prst="roundRect">
            <a:avLst>
              <a:gd name="adj" fmla="val 4000"/>
            </a:avLst>
          </a:prstGeom>
          <a:solidFill>
            <a:srgbClr val="0F1A2B"/>
          </a:solidFill>
          <a:ln w="12700">
            <a:solidFill>
              <a:srgbClr val="224C7A"/>
            </a:solidFill>
            <a:prstDash val="solid"/>
          </a:ln>
        </p:spPr>
        <p:txBody>
          <a:bodyPr/>
          <a:lstStyle/>
          <a:p>
            <a:endParaRPr/>
          </a:p>
        </p:txBody>
      </p:sp>
      <p:sp>
        <p:nvSpPr>
          <p:cNvPr id="6" name="Text 3"/>
          <p:cNvSpPr/>
          <p:nvPr/>
        </p:nvSpPr>
        <p:spPr>
          <a:xfrm>
            <a:off x="548640" y="960120"/>
            <a:ext cx="2377440" cy="274320"/>
          </a:xfrm>
          <a:prstGeom prst="rect">
            <a:avLst/>
          </a:prstGeom>
          <a:noFill/>
          <a:ln/>
        </p:spPr>
        <p:txBody>
          <a:bodyPr wrap="square" rtlCol="0" anchor="ctr"/>
          <a:lstStyle/>
          <a:p>
            <a:pPr marL="0" indent="0">
              <a:buNone/>
            </a:pPr>
            <a:r>
              <a:rPr lang="en-US" sz="1400" b="1" dirty="0">
                <a:solidFill>
                  <a:srgbClr val="003087"/>
                </a:solidFill>
              </a:rPr>
              <a:t>Data</a:t>
            </a:r>
            <a:endParaRPr lang="en-US" sz="1400" dirty="0"/>
          </a:p>
        </p:txBody>
      </p:sp>
      <p:sp>
        <p:nvSpPr>
          <p:cNvPr id="7" name="Text 4"/>
          <p:cNvSpPr/>
          <p:nvPr/>
        </p:nvSpPr>
        <p:spPr>
          <a:xfrm>
            <a:off x="548640" y="1234440"/>
            <a:ext cx="2377440" cy="1828800"/>
          </a:xfrm>
          <a:prstGeom prst="rect">
            <a:avLst/>
          </a:prstGeom>
          <a:noFill/>
          <a:ln/>
        </p:spPr>
        <p:txBody>
          <a:bodyPr wrap="square" rtlCol="0" anchor="ctr"/>
          <a:lstStyle/>
          <a:p>
            <a:pPr marL="0" indent="0">
              <a:buNone/>
            </a:pPr>
            <a:r>
              <a:rPr lang="en-US" sz="850" dirty="0">
                <a:solidFill>
                  <a:srgbClr val="F5F5F5"/>
                </a:solidFill>
              </a:rPr>
              <a:t>Successful queries return a top‑level data object; keys mirror your query fields</a:t>
            </a:r>
            <a:r>
              <a:rPr sz="850" u="sng">
                <a:solidFill>
                  <a:schemeClr val="accent6"/>
                </a:solidFill>
                <a:hlinkClick r:id="rId4"/>
              </a:rPr>
              <a:t>(developer.paypal.com)</a:t>
            </a:r>
            <a:r>
              <a:t>.</a:t>
            </a:r>
            <a:endParaRPr lang="en-US" sz="850" dirty="0"/>
          </a:p>
        </p:txBody>
      </p:sp>
      <p:sp>
        <p:nvSpPr>
          <p:cNvPr id="8" name="Shape 5"/>
          <p:cNvSpPr/>
          <p:nvPr/>
        </p:nvSpPr>
        <p:spPr>
          <a:xfrm>
            <a:off x="3383280" y="914400"/>
            <a:ext cx="2560320" cy="2286000"/>
          </a:xfrm>
          <a:prstGeom prst="roundRect">
            <a:avLst>
              <a:gd name="adj" fmla="val 4000"/>
            </a:avLst>
          </a:prstGeom>
          <a:solidFill>
            <a:srgbClr val="0F1A2B"/>
          </a:solidFill>
          <a:ln w="12700">
            <a:solidFill>
              <a:srgbClr val="224C7A"/>
            </a:solidFill>
            <a:prstDash val="solid"/>
          </a:ln>
        </p:spPr>
        <p:txBody>
          <a:bodyPr/>
          <a:lstStyle/>
          <a:p>
            <a:endParaRPr/>
          </a:p>
        </p:txBody>
      </p:sp>
      <p:sp>
        <p:nvSpPr>
          <p:cNvPr id="9" name="Text 6"/>
          <p:cNvSpPr/>
          <p:nvPr/>
        </p:nvSpPr>
        <p:spPr>
          <a:xfrm>
            <a:off x="3474720" y="960120"/>
            <a:ext cx="2377440" cy="274320"/>
          </a:xfrm>
          <a:prstGeom prst="rect">
            <a:avLst/>
          </a:prstGeom>
          <a:noFill/>
          <a:ln/>
        </p:spPr>
        <p:txBody>
          <a:bodyPr wrap="square" rtlCol="0" anchor="ctr"/>
          <a:lstStyle/>
          <a:p>
            <a:pPr marL="0" indent="0">
              <a:buNone/>
            </a:pPr>
            <a:r>
              <a:rPr lang="en-US" sz="1400" b="1" dirty="0">
                <a:solidFill>
                  <a:srgbClr val="003087"/>
                </a:solidFill>
              </a:rPr>
              <a:t>Errors</a:t>
            </a:r>
            <a:endParaRPr lang="en-US" sz="1400" dirty="0"/>
          </a:p>
        </p:txBody>
      </p:sp>
      <p:sp>
        <p:nvSpPr>
          <p:cNvPr id="10" name="Text 7"/>
          <p:cNvSpPr/>
          <p:nvPr/>
        </p:nvSpPr>
        <p:spPr>
          <a:xfrm>
            <a:off x="3474720" y="1234440"/>
            <a:ext cx="2377440" cy="1828800"/>
          </a:xfrm>
          <a:prstGeom prst="rect">
            <a:avLst/>
          </a:prstGeom>
          <a:noFill/>
          <a:ln/>
        </p:spPr>
        <p:txBody>
          <a:bodyPr wrap="square" rtlCol="0" anchor="ctr"/>
          <a:lstStyle/>
          <a:p>
            <a:pPr marL="0" indent="0">
              <a:buNone/>
            </a:pPr>
            <a:r>
              <a:rPr lang="en-US" sz="850" dirty="0">
                <a:solidFill>
                  <a:srgbClr val="F5F5F5"/>
                </a:solidFill>
              </a:rPr>
              <a:t>Errors array is always present when something goes wrong; each entry includes a human‑readable message, locations, the path and an extensions object with errorClass and codes</a:t>
            </a:r>
            <a:r>
              <a:rPr sz="850" u="sng">
                <a:solidFill>
                  <a:schemeClr val="accent6"/>
                </a:solidFill>
                <a:hlinkClick r:id="rId5"/>
              </a:rPr>
              <a:t>(developer.paypal.com)</a:t>
            </a:r>
            <a:r>
              <a:rPr u="sng">
                <a:solidFill>
                  <a:schemeClr val="accent6"/>
                </a:solidFill>
                <a:hlinkClick r:id="rId6"/>
              </a:rPr>
              <a:t>(developer.paypal.com)</a:t>
            </a:r>
            <a:r>
              <a:t>. GraphQL always returns HTTP 200 even for errors</a:t>
            </a:r>
            <a:r>
              <a:rPr u="sng">
                <a:solidFill>
                  <a:schemeClr val="accent6"/>
                </a:solidFill>
                <a:hlinkClick r:id="rId7"/>
              </a:rPr>
              <a:t>(developer.paypal.com)</a:t>
            </a:r>
            <a:r>
              <a:t>.</a:t>
            </a:r>
            <a:endParaRPr lang="en-US" sz="850" dirty="0"/>
          </a:p>
        </p:txBody>
      </p:sp>
      <p:sp>
        <p:nvSpPr>
          <p:cNvPr id="11" name="Shape 8"/>
          <p:cNvSpPr/>
          <p:nvPr/>
        </p:nvSpPr>
        <p:spPr>
          <a:xfrm>
            <a:off x="6309360" y="914400"/>
            <a:ext cx="2560320" cy="2286000"/>
          </a:xfrm>
          <a:prstGeom prst="roundRect">
            <a:avLst>
              <a:gd name="adj" fmla="val 4000"/>
            </a:avLst>
          </a:prstGeom>
          <a:solidFill>
            <a:srgbClr val="0F1A2B"/>
          </a:solidFill>
          <a:ln w="12700">
            <a:solidFill>
              <a:srgbClr val="224C7A"/>
            </a:solidFill>
            <a:prstDash val="solid"/>
          </a:ln>
        </p:spPr>
        <p:txBody>
          <a:bodyPr/>
          <a:lstStyle/>
          <a:p>
            <a:endParaRPr/>
          </a:p>
        </p:txBody>
      </p:sp>
      <p:sp>
        <p:nvSpPr>
          <p:cNvPr id="12" name="Text 9"/>
          <p:cNvSpPr/>
          <p:nvPr/>
        </p:nvSpPr>
        <p:spPr>
          <a:xfrm>
            <a:off x="6400800" y="960120"/>
            <a:ext cx="2377440" cy="274320"/>
          </a:xfrm>
          <a:prstGeom prst="rect">
            <a:avLst/>
          </a:prstGeom>
          <a:noFill/>
          <a:ln/>
        </p:spPr>
        <p:txBody>
          <a:bodyPr wrap="square" rtlCol="0" anchor="ctr"/>
          <a:lstStyle/>
          <a:p>
            <a:pPr marL="0" indent="0">
              <a:buNone/>
            </a:pPr>
            <a:r>
              <a:rPr lang="en-US" sz="1400" b="1" dirty="0">
                <a:solidFill>
                  <a:srgbClr val="003087"/>
                </a:solidFill>
              </a:rPr>
              <a:t>Extensions</a:t>
            </a:r>
            <a:endParaRPr lang="en-US" sz="1400" dirty="0"/>
          </a:p>
        </p:txBody>
      </p:sp>
      <p:sp>
        <p:nvSpPr>
          <p:cNvPr id="13" name="Text 10"/>
          <p:cNvSpPr/>
          <p:nvPr/>
        </p:nvSpPr>
        <p:spPr>
          <a:xfrm>
            <a:off x="6400800" y="1234440"/>
            <a:ext cx="2377440" cy="1828800"/>
          </a:xfrm>
          <a:prstGeom prst="rect">
            <a:avLst/>
          </a:prstGeom>
          <a:noFill/>
          <a:ln/>
        </p:spPr>
        <p:txBody>
          <a:bodyPr wrap="square" rtlCol="0" anchor="ctr"/>
          <a:lstStyle/>
          <a:p>
            <a:pPr marL="0" indent="0">
              <a:buNone/>
            </a:pPr>
            <a:r>
              <a:rPr lang="en-US" sz="850" dirty="0">
                <a:solidFill>
                  <a:srgbClr val="F5F5F5"/>
                </a:solidFill>
              </a:rPr>
              <a:t>Always includes a requestId in the extensions object; useful for support</a:t>
            </a:r>
            <a:r>
              <a:rPr sz="850" u="sng">
                <a:solidFill>
                  <a:schemeClr val="accent6"/>
                </a:solidFill>
                <a:hlinkClick r:id="rId8"/>
              </a:rPr>
              <a:t>(developer.paypal.com)</a:t>
            </a:r>
            <a:r>
              <a:t>.</a:t>
            </a:r>
            <a:endParaRPr lang="en-US" sz="850" dirty="0"/>
          </a:p>
        </p:txBody>
      </p:sp>
      <p:sp>
        <p:nvSpPr>
          <p:cNvPr id="14" name="Shape 11"/>
          <p:cNvSpPr/>
          <p:nvPr/>
        </p:nvSpPr>
        <p:spPr>
          <a:xfrm>
            <a:off x="457200" y="3383280"/>
            <a:ext cx="8686800" cy="1005840"/>
          </a:xfrm>
          <a:prstGeom prst="roundRect">
            <a:avLst>
              <a:gd name="adj" fmla="val 4545"/>
            </a:avLst>
          </a:prstGeom>
          <a:solidFill>
            <a:srgbClr val="011627"/>
          </a:solidFill>
          <a:ln w="12700">
            <a:solidFill>
              <a:srgbClr val="224C7A"/>
            </a:solidFill>
            <a:prstDash val="solid"/>
          </a:ln>
        </p:spPr>
        <p:txBody>
          <a:bodyPr/>
          <a:lstStyle/>
          <a:p>
            <a:endParaRPr/>
          </a:p>
        </p:txBody>
      </p:sp>
      <p:sp>
        <p:nvSpPr>
          <p:cNvPr id="15" name="Text 12"/>
          <p:cNvSpPr/>
          <p:nvPr/>
        </p:nvSpPr>
        <p:spPr>
          <a:xfrm>
            <a:off x="548640" y="3474720"/>
            <a:ext cx="8503920" cy="822960"/>
          </a:xfrm>
          <a:prstGeom prst="rect">
            <a:avLst/>
          </a:prstGeom>
          <a:noFill/>
          <a:ln/>
        </p:spPr>
        <p:txBody>
          <a:bodyPr wrap="square" rtlCol="0" anchor="ctr"/>
          <a:lstStyle/>
          <a:p>
            <a:pPr marL="0" indent="0">
              <a:buNone/>
            </a:pPr>
            <a:r>
              <a:rPr lang="en-US" sz="750" dirty="0">
                <a:solidFill>
                  <a:srgbClr val="F5F5F5"/>
                </a:solidFill>
              </a:rPr>
              <a:t>{
</a:t>
            </a:r>
            <a:r>
              <a:rPr lang="en-US" sz="750" dirty="0">
                <a:solidFill>
                  <a:srgbClr val="8BE9FD"/>
                </a:solidFill>
              </a:rPr>
              <a:t>  "data": { "chargePaymentMethod": null },
</a:t>
            </a:r>
            <a:r>
              <a:rPr lang="en-US" sz="750" dirty="0">
                <a:solidFill>
                  <a:srgbClr val="FF5555"/>
                </a:solidFill>
              </a:rPr>
              <a:t>  "errors": [ { "message": "Unknown or expired single‑use payment method",
</a:t>
            </a:r>
            <a:r>
              <a:rPr lang="en-US" sz="750" dirty="0">
                <a:solidFill>
                  <a:srgbClr val="F1FA8C"/>
                </a:solidFill>
              </a:rPr>
              <a:t>    "path": ["chargePaymentMethod"], "extensions": { "errorClass": "VALIDATION", "legacyCode": "91565" } } ],
</a:t>
            </a:r>
            <a:r>
              <a:rPr lang="en-US" sz="750" dirty="0">
                <a:solidFill>
                  <a:srgbClr val="50FA7B"/>
                </a:solidFill>
              </a:rPr>
              <a:t>  "extensions": { "requestId": "uuid" }
</a:t>
            </a:r>
            <a:r>
              <a:rPr lang="en-US" sz="750" dirty="0">
                <a:solidFill>
                  <a:srgbClr val="F5F5F5"/>
                </a:solidFill>
              </a:rPr>
              <a:t>}</a:t>
            </a:r>
            <a:endParaRPr lang="en-US" sz="750" dirty="0"/>
          </a:p>
        </p:txBody>
      </p:sp>
      <p:sp>
        <p:nvSpPr>
          <p:cNvPr id="16" name="Text 13"/>
          <p:cNvSpPr/>
          <p:nvPr/>
        </p:nvSpPr>
        <p:spPr>
          <a:xfrm>
            <a:off x="457200" y="4480560"/>
            <a:ext cx="8686800" cy="457200"/>
          </a:xfrm>
          <a:prstGeom prst="rect">
            <a:avLst/>
          </a:prstGeom>
          <a:noFill/>
          <a:ln/>
        </p:spPr>
        <p:txBody>
          <a:bodyPr wrap="square" rtlCol="0" anchor="ctr"/>
          <a:lstStyle/>
          <a:p>
            <a:pPr marL="0" indent="0">
              <a:buNone/>
            </a:pPr>
            <a:r>
              <a:rPr lang="en-US" sz="1400" b="1" dirty="0">
                <a:solidFill>
                  <a:srgbClr val="003087"/>
                </a:solidFill>
              </a:rPr>
              <a:t>Timeouts
</a:t>
            </a:r>
            <a:r>
              <a:rPr lang="en-US" sz="800" dirty="0">
                <a:solidFill>
                  <a:srgbClr val="F5F5F5"/>
                </a:solidFill>
              </a:rPr>
              <a:t>Processor requests can take up to 60 s; shorter timeouts risk charging the customer without a response</a:t>
            </a:r>
            <a:r>
              <a:rPr sz="800" u="sng">
                <a:solidFill>
                  <a:schemeClr val="accent6"/>
                </a:solidFill>
                <a:hlinkClick r:id="rId9"/>
              </a:rPr>
              <a:t>(developer.paypal.com)</a:t>
            </a:r>
            <a:r>
              <a:t>.</a:t>
            </a:r>
            <a:endParaRPr lang="en-US" sz="1400" dirty="0"/>
          </a:p>
        </p:txBody>
      </p:sp>
      <p:sp>
        <p:nvSpPr>
          <p:cNvPr id="17" name="Text 14"/>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10"/>
              </a:rPr>
              <a:t>[24]</a:t>
            </a:r>
            <a:r>
              <a:rPr lang="en-US" sz="600" u="sng" dirty="0">
                <a:solidFill>
                  <a:srgbClr val="003087"/>
                </a:solidFill>
                <a:hlinkClick r:id="rId4"/>
              </a:rPr>
              <a:t>[25]</a:t>
            </a:r>
            <a:r>
              <a:rPr lang="en-US" sz="600" u="sng" dirty="0">
                <a:solidFill>
                  <a:srgbClr val="003087"/>
                </a:solidFill>
                <a:hlinkClick r:id="rId7"/>
              </a:rPr>
              <a:t>[26]</a:t>
            </a:r>
            <a:r>
              <a:rPr lang="en-US" sz="600" u="sng" dirty="0">
                <a:solidFill>
                  <a:srgbClr val="003087"/>
                </a:solidFill>
                <a:hlinkClick r:id="rId5"/>
              </a:rPr>
              <a:t>[27]</a:t>
            </a:r>
            <a:r>
              <a:rPr lang="en-US" sz="600" u="sng" dirty="0">
                <a:solidFill>
                  <a:srgbClr val="003087"/>
                </a:solidFill>
                <a:hlinkClick r:id="rId6"/>
              </a:rPr>
              <a:t>[28]</a:t>
            </a:r>
            <a:r>
              <a:rPr lang="en-US" sz="600" u="sng" dirty="0">
                <a:solidFill>
                  <a:srgbClr val="003087"/>
                </a:solidFill>
                <a:hlinkClick r:id="rId11"/>
              </a:rPr>
              <a:t>[29]</a:t>
            </a:r>
            <a:r>
              <a:rPr lang="en-US" sz="600" u="sng" dirty="0">
                <a:solidFill>
                  <a:srgbClr val="003087"/>
                </a:solidFill>
                <a:hlinkClick r:id="rId8"/>
              </a:rPr>
              <a:t>[30]</a:t>
            </a:r>
            <a:r>
              <a:rPr lang="en-US" sz="600" u="sng" dirty="0">
                <a:solidFill>
                  <a:srgbClr val="003087"/>
                </a:solidFill>
                <a:hlinkClick r:id="rId9"/>
              </a:rPr>
              <a:t>[31]</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oai/share/50e89b73-047e-436e-b032-0e33c81c2bcf.png"/>
          <p:cNvPicPr>
            <a:picLocks noChangeAspect="1"/>
          </p:cNvPicPr>
          <p:nvPr/>
        </p:nvPicPr>
        <p:blipFill>
          <a:blip r:embed="rId3"/>
          <a:srcRect t="21875" b="21875"/>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p:spPr>
        <p:txBody>
          <a:bodyPr/>
          <a:lstStyle/>
          <a:p>
            <a:endParaRPr/>
          </a:p>
        </p:txBody>
      </p:sp>
      <p:sp>
        <p:nvSpPr>
          <p:cNvPr id="4" name="Text 1"/>
          <p:cNvSpPr/>
          <p:nvPr/>
        </p:nvSpPr>
        <p:spPr>
          <a:xfrm>
            <a:off x="457200" y="457200"/>
            <a:ext cx="8229600" cy="548640"/>
          </a:xfrm>
          <a:prstGeom prst="rect">
            <a:avLst/>
          </a:prstGeom>
          <a:noFill/>
          <a:ln/>
        </p:spPr>
        <p:txBody>
          <a:bodyPr wrap="square" rtlCol="0" anchor="ctr"/>
          <a:lstStyle/>
          <a:p>
            <a:pPr marL="0" indent="0">
              <a:buNone/>
            </a:pPr>
            <a:r>
              <a:rPr lang="en-US" sz="2400" b="1" dirty="0">
                <a:solidFill>
                  <a:srgbClr val="FFFFFF"/>
                </a:solidFill>
              </a:rPr>
              <a:t>Mutations &amp; Subscriptions</a:t>
            </a:r>
            <a:endParaRPr lang="en-US" sz="2400" dirty="0"/>
          </a:p>
        </p:txBody>
      </p:sp>
      <p:sp>
        <p:nvSpPr>
          <p:cNvPr id="5" name="Shape 2"/>
          <p:cNvSpPr/>
          <p:nvPr/>
        </p:nvSpPr>
        <p:spPr>
          <a:xfrm>
            <a:off x="457200" y="1280160"/>
            <a:ext cx="4023360" cy="2377440"/>
          </a:xfrm>
          <a:prstGeom prst="roundRect">
            <a:avLst>
              <a:gd name="adj" fmla="val 1923"/>
            </a:avLst>
          </a:prstGeom>
          <a:solidFill>
            <a:srgbClr val="0F2142"/>
          </a:solidFill>
          <a:ln w="12700">
            <a:solidFill>
              <a:srgbClr val="E10098"/>
            </a:solidFill>
            <a:prstDash val="solid"/>
          </a:ln>
        </p:spPr>
        <p:txBody>
          <a:bodyPr/>
          <a:lstStyle/>
          <a:p>
            <a:endParaRPr/>
          </a:p>
        </p:txBody>
      </p:sp>
      <p:sp>
        <p:nvSpPr>
          <p:cNvPr id="6" name="Shape 3"/>
          <p:cNvSpPr/>
          <p:nvPr/>
        </p:nvSpPr>
        <p:spPr>
          <a:xfrm>
            <a:off x="548640" y="1325880"/>
            <a:ext cx="365760" cy="365760"/>
          </a:xfrm>
          <a:prstGeom prst="ellipse">
            <a:avLst/>
          </a:prstGeom>
          <a:solidFill>
            <a:srgbClr val="E10098"/>
          </a:solidFill>
          <a:ln w="12700">
            <a:solidFill>
              <a:srgbClr val="E10098"/>
            </a:solidFill>
            <a:prstDash val="solid"/>
          </a:ln>
        </p:spPr>
        <p:txBody>
          <a:bodyPr/>
          <a:lstStyle/>
          <a:p>
            <a:endParaRPr/>
          </a:p>
        </p:txBody>
      </p:sp>
      <p:pic>
        <p:nvPicPr>
          <p:cNvPr id="7" name="Image 1" descr="preencoded.png"/>
          <p:cNvPicPr>
            <a:picLocks noChangeAspect="1"/>
          </p:cNvPicPr>
          <p:nvPr/>
        </p:nvPicPr>
        <p:blipFill>
          <a:blip r:embed="rId4"/>
          <a:stretch>
            <a:fillRect/>
          </a:stretch>
        </p:blipFill>
        <p:spPr>
          <a:xfrm>
            <a:off x="640080" y="1371600"/>
            <a:ext cx="228600" cy="228600"/>
          </a:xfrm>
          <a:prstGeom prst="rect">
            <a:avLst/>
          </a:prstGeom>
        </p:spPr>
      </p:pic>
      <p:sp>
        <p:nvSpPr>
          <p:cNvPr id="8" name="Text 4"/>
          <p:cNvSpPr/>
          <p:nvPr/>
        </p:nvSpPr>
        <p:spPr>
          <a:xfrm>
            <a:off x="1005840" y="1280160"/>
            <a:ext cx="3474720" cy="274320"/>
          </a:xfrm>
          <a:prstGeom prst="rect">
            <a:avLst/>
          </a:prstGeom>
          <a:noFill/>
          <a:ln/>
        </p:spPr>
        <p:txBody>
          <a:bodyPr wrap="square" rtlCol="0" anchor="ctr"/>
          <a:lstStyle/>
          <a:p>
            <a:pPr marL="0" indent="0">
              <a:buNone/>
            </a:pPr>
            <a:r>
              <a:rPr lang="en-US" sz="1600" b="1" dirty="0">
                <a:solidFill>
                  <a:srgbClr val="FFFFFF"/>
                </a:solidFill>
              </a:rPr>
              <a:t>Mutations</a:t>
            </a:r>
            <a:endParaRPr lang="en-US" sz="1600" dirty="0"/>
          </a:p>
        </p:txBody>
      </p:sp>
      <p:sp>
        <p:nvSpPr>
          <p:cNvPr id="9" name="Shape 5"/>
          <p:cNvSpPr/>
          <p:nvPr/>
        </p:nvSpPr>
        <p:spPr>
          <a:xfrm>
            <a:off x="640080" y="1764792"/>
            <a:ext cx="109728" cy="109728"/>
          </a:xfrm>
          <a:prstGeom prst="ellipse">
            <a:avLst/>
          </a:prstGeom>
          <a:solidFill>
            <a:srgbClr val="E10098"/>
          </a:solidFill>
          <a:ln w="12700">
            <a:solidFill>
              <a:srgbClr val="E10098"/>
            </a:solidFill>
            <a:prstDash val="solid"/>
          </a:ln>
        </p:spPr>
        <p:txBody>
          <a:bodyPr/>
          <a:lstStyle/>
          <a:p>
            <a:endParaRPr/>
          </a:p>
        </p:txBody>
      </p:sp>
      <p:sp>
        <p:nvSpPr>
          <p:cNvPr id="10" name="Text 6"/>
          <p:cNvSpPr/>
          <p:nvPr/>
        </p:nvSpPr>
        <p:spPr>
          <a:xfrm>
            <a:off x="786384" y="1719072"/>
            <a:ext cx="3657600" cy="365760"/>
          </a:xfrm>
          <a:prstGeom prst="rect">
            <a:avLst/>
          </a:prstGeom>
          <a:noFill/>
          <a:ln/>
        </p:spPr>
        <p:txBody>
          <a:bodyPr wrap="square" rtlCol="0" anchor="ctr"/>
          <a:lstStyle/>
          <a:p>
            <a:pPr marL="0" indent="0">
              <a:buNone/>
            </a:pPr>
            <a:r>
              <a:rPr lang="en-US" sz="1200" dirty="0">
                <a:solidFill>
                  <a:srgbClr val="FFFFFF"/>
                </a:solidFill>
              </a:rPr>
              <a:t>Charge a payment method</a:t>
            </a:r>
            <a:endParaRPr lang="en-US" sz="1200" dirty="0"/>
          </a:p>
        </p:txBody>
      </p:sp>
      <p:sp>
        <p:nvSpPr>
          <p:cNvPr id="11" name="Shape 7"/>
          <p:cNvSpPr/>
          <p:nvPr/>
        </p:nvSpPr>
        <p:spPr>
          <a:xfrm>
            <a:off x="640080" y="2176272"/>
            <a:ext cx="109728" cy="109728"/>
          </a:xfrm>
          <a:prstGeom prst="ellipse">
            <a:avLst/>
          </a:prstGeom>
          <a:solidFill>
            <a:srgbClr val="E10098"/>
          </a:solidFill>
          <a:ln w="12700">
            <a:solidFill>
              <a:srgbClr val="E10098"/>
            </a:solidFill>
            <a:prstDash val="solid"/>
          </a:ln>
        </p:spPr>
        <p:txBody>
          <a:bodyPr/>
          <a:lstStyle/>
          <a:p>
            <a:endParaRPr/>
          </a:p>
        </p:txBody>
      </p:sp>
      <p:sp>
        <p:nvSpPr>
          <p:cNvPr id="12" name="Text 8"/>
          <p:cNvSpPr/>
          <p:nvPr/>
        </p:nvSpPr>
        <p:spPr>
          <a:xfrm>
            <a:off x="786384" y="2130552"/>
            <a:ext cx="3657600" cy="365760"/>
          </a:xfrm>
          <a:prstGeom prst="rect">
            <a:avLst/>
          </a:prstGeom>
          <a:noFill/>
          <a:ln/>
        </p:spPr>
        <p:txBody>
          <a:bodyPr wrap="square" rtlCol="0" anchor="ctr"/>
          <a:lstStyle/>
          <a:p>
            <a:pPr marL="0" indent="0">
              <a:buNone/>
            </a:pPr>
            <a:r>
              <a:rPr lang="en-US" sz="1200" dirty="0">
                <a:solidFill>
                  <a:srgbClr val="FFFFFF"/>
                </a:solidFill>
              </a:rPr>
              <a:t>Authorize a payment method</a:t>
            </a:r>
            <a:endParaRPr lang="en-US" sz="1200" dirty="0"/>
          </a:p>
        </p:txBody>
      </p:sp>
      <p:sp>
        <p:nvSpPr>
          <p:cNvPr id="13" name="Shape 9"/>
          <p:cNvSpPr/>
          <p:nvPr/>
        </p:nvSpPr>
        <p:spPr>
          <a:xfrm>
            <a:off x="640080" y="2587752"/>
            <a:ext cx="109728" cy="109728"/>
          </a:xfrm>
          <a:prstGeom prst="ellipse">
            <a:avLst/>
          </a:prstGeom>
          <a:solidFill>
            <a:srgbClr val="E10098"/>
          </a:solidFill>
          <a:ln w="12700">
            <a:solidFill>
              <a:srgbClr val="E10098"/>
            </a:solidFill>
            <a:prstDash val="solid"/>
          </a:ln>
        </p:spPr>
        <p:txBody>
          <a:bodyPr/>
          <a:lstStyle/>
          <a:p>
            <a:endParaRPr/>
          </a:p>
        </p:txBody>
      </p:sp>
      <p:sp>
        <p:nvSpPr>
          <p:cNvPr id="14" name="Text 10"/>
          <p:cNvSpPr/>
          <p:nvPr/>
        </p:nvSpPr>
        <p:spPr>
          <a:xfrm>
            <a:off x="786384" y="2542032"/>
            <a:ext cx="3657600" cy="365760"/>
          </a:xfrm>
          <a:prstGeom prst="rect">
            <a:avLst/>
          </a:prstGeom>
          <a:noFill/>
          <a:ln/>
        </p:spPr>
        <p:txBody>
          <a:bodyPr wrap="square" rtlCol="0" anchor="ctr"/>
          <a:lstStyle/>
          <a:p>
            <a:pPr marL="0" indent="0">
              <a:buNone/>
            </a:pPr>
            <a:r>
              <a:rPr lang="en-US" sz="1200" dirty="0">
                <a:solidFill>
                  <a:srgbClr val="FFFFFF"/>
                </a:solidFill>
              </a:rPr>
              <a:t>Vault or update payment method</a:t>
            </a:r>
            <a:endParaRPr lang="en-US" sz="1200" dirty="0"/>
          </a:p>
        </p:txBody>
      </p:sp>
      <p:sp>
        <p:nvSpPr>
          <p:cNvPr id="15" name="Shape 11"/>
          <p:cNvSpPr/>
          <p:nvPr/>
        </p:nvSpPr>
        <p:spPr>
          <a:xfrm>
            <a:off x="4572000" y="1280160"/>
            <a:ext cx="4023360" cy="2377440"/>
          </a:xfrm>
          <a:prstGeom prst="roundRect">
            <a:avLst>
              <a:gd name="adj" fmla="val 1923"/>
            </a:avLst>
          </a:prstGeom>
          <a:solidFill>
            <a:srgbClr val="0F2142"/>
          </a:solidFill>
          <a:ln w="12700">
            <a:solidFill>
              <a:srgbClr val="0070BA"/>
            </a:solidFill>
            <a:prstDash val="solid"/>
          </a:ln>
        </p:spPr>
        <p:txBody>
          <a:bodyPr/>
          <a:lstStyle/>
          <a:p>
            <a:endParaRPr/>
          </a:p>
        </p:txBody>
      </p:sp>
      <p:sp>
        <p:nvSpPr>
          <p:cNvPr id="16" name="Shape 12"/>
          <p:cNvSpPr/>
          <p:nvPr/>
        </p:nvSpPr>
        <p:spPr>
          <a:xfrm>
            <a:off x="4663440" y="1325880"/>
            <a:ext cx="365760" cy="365760"/>
          </a:xfrm>
          <a:prstGeom prst="ellipse">
            <a:avLst/>
          </a:prstGeom>
          <a:solidFill>
            <a:srgbClr val="0070BA"/>
          </a:solidFill>
          <a:ln w="12700">
            <a:solidFill>
              <a:srgbClr val="0070BA"/>
            </a:solidFill>
            <a:prstDash val="solid"/>
          </a:ln>
        </p:spPr>
        <p:txBody>
          <a:bodyPr/>
          <a:lstStyle/>
          <a:p>
            <a:endParaRPr/>
          </a:p>
        </p:txBody>
      </p:sp>
      <p:pic>
        <p:nvPicPr>
          <p:cNvPr id="17" name="Image 2" descr="preencoded.png"/>
          <p:cNvPicPr>
            <a:picLocks noChangeAspect="1"/>
          </p:cNvPicPr>
          <p:nvPr/>
        </p:nvPicPr>
        <p:blipFill>
          <a:blip r:embed="rId5"/>
          <a:stretch>
            <a:fillRect/>
          </a:stretch>
        </p:blipFill>
        <p:spPr>
          <a:xfrm>
            <a:off x="4754880" y="1371600"/>
            <a:ext cx="228600" cy="228600"/>
          </a:xfrm>
          <a:prstGeom prst="rect">
            <a:avLst/>
          </a:prstGeom>
        </p:spPr>
      </p:pic>
      <p:sp>
        <p:nvSpPr>
          <p:cNvPr id="18" name="Text 13"/>
          <p:cNvSpPr/>
          <p:nvPr/>
        </p:nvSpPr>
        <p:spPr>
          <a:xfrm>
            <a:off x="5029200" y="1280160"/>
            <a:ext cx="3474720" cy="274320"/>
          </a:xfrm>
          <a:prstGeom prst="rect">
            <a:avLst/>
          </a:prstGeom>
          <a:noFill/>
          <a:ln/>
        </p:spPr>
        <p:txBody>
          <a:bodyPr wrap="square" rtlCol="0" anchor="ctr"/>
          <a:lstStyle/>
          <a:p>
            <a:pPr marL="0" indent="0">
              <a:buNone/>
            </a:pPr>
            <a:r>
              <a:rPr lang="en-US" sz="1600" b="1" dirty="0">
                <a:solidFill>
                  <a:srgbClr val="FFFFFF"/>
                </a:solidFill>
              </a:rPr>
              <a:t>Subscriptions</a:t>
            </a:r>
            <a:endParaRPr lang="en-US" sz="1600" dirty="0"/>
          </a:p>
        </p:txBody>
      </p:sp>
      <p:sp>
        <p:nvSpPr>
          <p:cNvPr id="19" name="Shape 14"/>
          <p:cNvSpPr/>
          <p:nvPr/>
        </p:nvSpPr>
        <p:spPr>
          <a:xfrm>
            <a:off x="4754880" y="1764792"/>
            <a:ext cx="109728" cy="109728"/>
          </a:xfrm>
          <a:prstGeom prst="ellipse">
            <a:avLst/>
          </a:prstGeom>
          <a:solidFill>
            <a:srgbClr val="0070BA"/>
          </a:solidFill>
          <a:ln w="12700">
            <a:solidFill>
              <a:srgbClr val="0070BA"/>
            </a:solidFill>
            <a:prstDash val="solid"/>
          </a:ln>
        </p:spPr>
        <p:txBody>
          <a:bodyPr/>
          <a:lstStyle/>
          <a:p>
            <a:endParaRPr/>
          </a:p>
        </p:txBody>
      </p:sp>
      <p:sp>
        <p:nvSpPr>
          <p:cNvPr id="20" name="Text 15"/>
          <p:cNvSpPr/>
          <p:nvPr/>
        </p:nvSpPr>
        <p:spPr>
          <a:xfrm>
            <a:off x="4901184" y="1719072"/>
            <a:ext cx="3657600" cy="365760"/>
          </a:xfrm>
          <a:prstGeom prst="rect">
            <a:avLst/>
          </a:prstGeom>
          <a:noFill/>
          <a:ln/>
        </p:spPr>
        <p:txBody>
          <a:bodyPr wrap="square" rtlCol="0" anchor="ctr"/>
          <a:lstStyle/>
          <a:p>
            <a:pPr marL="0" indent="0">
              <a:buNone/>
            </a:pPr>
            <a:r>
              <a:rPr lang="en-US" sz="1200" dirty="0">
                <a:solidFill>
                  <a:srgbClr val="FFFFFF"/>
                </a:solidFill>
              </a:rPr>
              <a:t>Listen for transaction status changes</a:t>
            </a:r>
            <a:endParaRPr lang="en-US" sz="1200" dirty="0"/>
          </a:p>
        </p:txBody>
      </p:sp>
      <p:sp>
        <p:nvSpPr>
          <p:cNvPr id="21" name="Shape 16"/>
          <p:cNvSpPr/>
          <p:nvPr/>
        </p:nvSpPr>
        <p:spPr>
          <a:xfrm>
            <a:off x="4754880" y="2176272"/>
            <a:ext cx="109728" cy="109728"/>
          </a:xfrm>
          <a:prstGeom prst="ellipse">
            <a:avLst/>
          </a:prstGeom>
          <a:solidFill>
            <a:srgbClr val="0070BA"/>
          </a:solidFill>
          <a:ln w="12700">
            <a:solidFill>
              <a:srgbClr val="0070BA"/>
            </a:solidFill>
            <a:prstDash val="solid"/>
          </a:ln>
        </p:spPr>
        <p:txBody>
          <a:bodyPr/>
          <a:lstStyle/>
          <a:p>
            <a:endParaRPr/>
          </a:p>
        </p:txBody>
      </p:sp>
      <p:sp>
        <p:nvSpPr>
          <p:cNvPr id="22" name="Text 17"/>
          <p:cNvSpPr/>
          <p:nvPr/>
        </p:nvSpPr>
        <p:spPr>
          <a:xfrm>
            <a:off x="4901184" y="2130552"/>
            <a:ext cx="3657600" cy="365760"/>
          </a:xfrm>
          <a:prstGeom prst="rect">
            <a:avLst/>
          </a:prstGeom>
          <a:noFill/>
          <a:ln/>
        </p:spPr>
        <p:txBody>
          <a:bodyPr wrap="square" rtlCol="0" anchor="ctr"/>
          <a:lstStyle/>
          <a:p>
            <a:pPr marL="0" indent="0">
              <a:buNone/>
            </a:pPr>
            <a:r>
              <a:rPr lang="en-US" sz="1200" dirty="0">
                <a:solidFill>
                  <a:srgbClr val="FFFFFF"/>
                </a:solidFill>
              </a:rPr>
              <a:t>Receive real‑time events</a:t>
            </a:r>
            <a:endParaRPr lang="en-US" sz="1200" dirty="0"/>
          </a:p>
        </p:txBody>
      </p:sp>
      <p:sp>
        <p:nvSpPr>
          <p:cNvPr id="23" name="Shape 18"/>
          <p:cNvSpPr/>
          <p:nvPr/>
        </p:nvSpPr>
        <p:spPr>
          <a:xfrm>
            <a:off x="4754880" y="2587752"/>
            <a:ext cx="109728" cy="109728"/>
          </a:xfrm>
          <a:prstGeom prst="ellipse">
            <a:avLst/>
          </a:prstGeom>
          <a:solidFill>
            <a:srgbClr val="0070BA"/>
          </a:solidFill>
          <a:ln w="12700">
            <a:solidFill>
              <a:srgbClr val="0070BA"/>
            </a:solidFill>
            <a:prstDash val="solid"/>
          </a:ln>
        </p:spPr>
        <p:txBody>
          <a:bodyPr/>
          <a:lstStyle/>
          <a:p>
            <a:endParaRPr/>
          </a:p>
        </p:txBody>
      </p:sp>
      <p:sp>
        <p:nvSpPr>
          <p:cNvPr id="24" name="Text 19"/>
          <p:cNvSpPr/>
          <p:nvPr/>
        </p:nvSpPr>
        <p:spPr>
          <a:xfrm>
            <a:off x="4901184" y="2542032"/>
            <a:ext cx="3657600" cy="365760"/>
          </a:xfrm>
          <a:prstGeom prst="rect">
            <a:avLst/>
          </a:prstGeom>
          <a:noFill/>
          <a:ln/>
        </p:spPr>
        <p:txBody>
          <a:bodyPr wrap="square" rtlCol="0" anchor="ctr"/>
          <a:lstStyle/>
          <a:p>
            <a:pPr marL="0" indent="0">
              <a:buNone/>
            </a:pPr>
            <a:r>
              <a:rPr lang="en-US" sz="1200" dirty="0">
                <a:solidFill>
                  <a:srgbClr val="FFFFFF"/>
                </a:solidFill>
              </a:rPr>
              <a:t>Conceptual placeholder (not yet supported)</a:t>
            </a:r>
            <a:endParaRPr lang="en-US" sz="1200" dirty="0"/>
          </a:p>
        </p:txBody>
      </p:sp>
      <p:sp>
        <p:nvSpPr>
          <p:cNvPr id="25" name="Text 20"/>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6"/>
              </a:rPr>
              <a:t>[1]</a:t>
            </a:r>
            <a:r>
              <a:rPr lang="en-US" sz="600" dirty="0">
                <a:solidFill>
                  <a:srgbClr val="000000"/>
                </a:solidFill>
              </a:rPr>
              <a:t>   </a:t>
            </a:r>
            <a:r>
              <a:rPr lang="en-US" sz="600" u="sng" dirty="0">
                <a:solidFill>
                  <a:srgbClr val="00B0F0"/>
                </a:solidFill>
                <a:hlinkClick r:id="rId7"/>
              </a:rPr>
              <a:t>[2]</a:t>
            </a:r>
            <a:r>
              <a:rPr lang="en-US" sz="600" dirty="0">
                <a:solidFill>
                  <a:srgbClr val="000000"/>
                </a:solidFill>
              </a:rPr>
              <a:t>   </a:t>
            </a:r>
            <a:r>
              <a:rPr lang="en-US" sz="600" u="sng" dirty="0">
                <a:solidFill>
                  <a:srgbClr val="00B0F0"/>
                </a:solidFill>
                <a:hlinkClick r:id="rId8"/>
              </a:rPr>
              <a:t>[3]</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oai/share/background_content.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20000"/>
            </a:srgbClr>
          </a:solidFill>
          <a:ln w="12700">
            <a:solidFill>
              <a:srgbClr val="000000"/>
            </a:solidFill>
            <a:prstDash val="solid"/>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Advanced Features &amp; Tools</a:t>
            </a:r>
            <a:endParaRPr lang="en-US" sz="26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7200" y="1005840"/>
            <a:ext cx="320040" cy="320040"/>
          </a:xfrm>
          <a:prstGeom prst="rect">
            <a:avLst/>
          </a:prstGeom>
        </p:spPr>
      </p:pic>
      <p:sp>
        <p:nvSpPr>
          <p:cNvPr id="6" name="Text 2"/>
          <p:cNvSpPr/>
          <p:nvPr/>
        </p:nvSpPr>
        <p:spPr>
          <a:xfrm>
            <a:off x="822960" y="960120"/>
            <a:ext cx="8321040" cy="731520"/>
          </a:xfrm>
          <a:prstGeom prst="rect">
            <a:avLst/>
          </a:prstGeom>
          <a:noFill/>
          <a:ln/>
        </p:spPr>
        <p:txBody>
          <a:bodyPr wrap="square" rtlCol="0" anchor="ctr"/>
          <a:lstStyle/>
          <a:p>
            <a:pPr marL="0" indent="0">
              <a:buNone/>
            </a:pPr>
            <a:r>
              <a:rPr lang="en-US" sz="1400" b="1" dirty="0">
                <a:solidFill>
                  <a:srgbClr val="003087"/>
                </a:solidFill>
              </a:rPr>
              <a:t>Introspection &amp; Schema
</a:t>
            </a:r>
            <a:r>
              <a:rPr lang="en-US" sz="850" dirty="0">
                <a:solidFill>
                  <a:srgbClr val="F5F5F5"/>
                </a:solidFill>
              </a:rPr>
              <a:t>Use the __schema query to explore all types and fields; the schema is always up‑to‑date and your primary reference.</a:t>
            </a:r>
            <a:endParaRPr lang="en-US" sz="14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7200" y="1783080"/>
            <a:ext cx="320040" cy="320040"/>
          </a:xfrm>
          <a:prstGeom prst="rect">
            <a:avLst/>
          </a:prstGeom>
        </p:spPr>
      </p:pic>
      <p:sp>
        <p:nvSpPr>
          <p:cNvPr id="8" name="Text 3"/>
          <p:cNvSpPr/>
          <p:nvPr/>
        </p:nvSpPr>
        <p:spPr>
          <a:xfrm>
            <a:off x="822960" y="1737360"/>
            <a:ext cx="8321040" cy="731520"/>
          </a:xfrm>
          <a:prstGeom prst="rect">
            <a:avLst/>
          </a:prstGeom>
          <a:noFill/>
          <a:ln/>
        </p:spPr>
        <p:txBody>
          <a:bodyPr wrap="square" rtlCol="0" anchor="ctr"/>
          <a:lstStyle/>
          <a:p>
            <a:pPr marL="0" indent="0">
              <a:buNone/>
            </a:pPr>
            <a:r>
              <a:rPr lang="en-US" sz="1400" b="1" dirty="0">
                <a:solidFill>
                  <a:srgbClr val="003087"/>
                </a:solidFill>
              </a:rPr>
              <a:t>Relay &amp; Pagination
</a:t>
            </a:r>
            <a:r>
              <a:rPr lang="en-US" sz="850" dirty="0">
                <a:solidFill>
                  <a:srgbClr val="F5F5F5"/>
                </a:solidFill>
              </a:rPr>
              <a:t>Braintree implements the Relay spec for node lookup, pagination and connections, enabling efficient object retrieval.</a:t>
            </a:r>
            <a:endParaRPr lang="en-US" sz="1400" dirty="0"/>
          </a:p>
        </p:txBody>
      </p:sp>
      <p:pic>
        <p:nvPicPr>
          <p:cNvPr id="9"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200" y="2560320"/>
            <a:ext cx="320040" cy="320040"/>
          </a:xfrm>
          <a:prstGeom prst="rect">
            <a:avLst/>
          </a:prstGeom>
        </p:spPr>
      </p:pic>
      <p:sp>
        <p:nvSpPr>
          <p:cNvPr id="10" name="Text 4"/>
          <p:cNvSpPr/>
          <p:nvPr/>
        </p:nvSpPr>
        <p:spPr>
          <a:xfrm>
            <a:off x="822960" y="2514600"/>
            <a:ext cx="8321040" cy="731520"/>
          </a:xfrm>
          <a:prstGeom prst="rect">
            <a:avLst/>
          </a:prstGeom>
          <a:noFill/>
          <a:ln/>
        </p:spPr>
        <p:txBody>
          <a:bodyPr wrap="square" rtlCol="0" anchor="ctr"/>
          <a:lstStyle/>
          <a:p>
            <a:pPr marL="0" indent="0">
              <a:buNone/>
            </a:pPr>
            <a:r>
              <a:rPr lang="en-US" sz="1400" b="1" dirty="0">
                <a:solidFill>
                  <a:srgbClr val="003087"/>
                </a:solidFill>
              </a:rPr>
              <a:t>Aliasing &amp; Batching
</a:t>
            </a:r>
            <a:r>
              <a:rPr lang="en-US" sz="850" dirty="0">
                <a:solidFill>
                  <a:srgbClr val="F5F5F5"/>
                </a:solidFill>
              </a:rPr>
              <a:t>GraphQL aliases let you call the same mutation multiple times in one request; request batching groups multiple queries/mutations</a:t>
            </a:r>
            <a:r>
              <a:rPr sz="850" u="sng">
                <a:solidFill>
                  <a:schemeClr val="accent6"/>
                </a:solidFill>
                <a:hlinkClick r:id="rId10"/>
              </a:rPr>
              <a:t>(developer.paypal.com)</a:t>
            </a:r>
            <a:r>
              <a:t>.</a:t>
            </a:r>
            <a:endParaRPr lang="en-US" sz="1400" dirty="0"/>
          </a:p>
        </p:txBody>
      </p:sp>
      <p:pic>
        <p:nvPicPr>
          <p:cNvPr id="1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200" y="3337560"/>
            <a:ext cx="320040" cy="320040"/>
          </a:xfrm>
          <a:prstGeom prst="rect">
            <a:avLst/>
          </a:prstGeom>
        </p:spPr>
      </p:pic>
      <p:sp>
        <p:nvSpPr>
          <p:cNvPr id="12" name="Text 5"/>
          <p:cNvSpPr/>
          <p:nvPr/>
        </p:nvSpPr>
        <p:spPr>
          <a:xfrm>
            <a:off x="822960" y="3291840"/>
            <a:ext cx="8321040" cy="731520"/>
          </a:xfrm>
          <a:prstGeom prst="rect">
            <a:avLst/>
          </a:prstGeom>
          <a:noFill/>
          <a:ln/>
        </p:spPr>
        <p:txBody>
          <a:bodyPr wrap="square" rtlCol="0" anchor="ctr"/>
          <a:lstStyle/>
          <a:p>
            <a:pPr marL="0" indent="0">
              <a:buNone/>
            </a:pPr>
            <a:r>
              <a:rPr lang="en-US" sz="1400" b="1" dirty="0">
                <a:solidFill>
                  <a:srgbClr val="003087"/>
                </a:solidFill>
              </a:rPr>
              <a:t>Sandbox &amp; Testing
</a:t>
            </a:r>
            <a:r>
              <a:rPr lang="en-US" sz="850" dirty="0">
                <a:solidFill>
                  <a:srgbClr val="F5F5F5"/>
                </a:solidFill>
              </a:rPr>
              <a:t>Use the sandbox environment, API Explorer and test payment methods to experiment safely before going live.</a:t>
            </a:r>
            <a:endParaRPr lang="en-US" sz="1400" dirty="0"/>
          </a:p>
        </p:txBody>
      </p:sp>
      <p:sp>
        <p:nvSpPr>
          <p:cNvPr id="13" name="Text 6"/>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13">
                  <a:extLst>
                    <a:ext uri="{A12FA001-AC4F-418D-AE19-62706E023703}">
                      <ahyp:hlinkClr xmlns:ahyp="http://schemas.microsoft.com/office/drawing/2018/hyperlinkcolor" val="tx"/>
                    </a:ext>
                  </a:extLst>
                </a:hlinkClick>
              </a:rPr>
              <a:t>[32]</a:t>
            </a:r>
            <a:r>
              <a:rPr lang="en-US" sz="600" u="sng" dirty="0">
                <a:solidFill>
                  <a:srgbClr val="003087"/>
                </a:solidFill>
                <a:hlinkClick r:id="rId14">
                  <a:extLst>
                    <a:ext uri="{A12FA001-AC4F-418D-AE19-62706E023703}">
                      <ahyp:hlinkClr xmlns:ahyp="http://schemas.microsoft.com/office/drawing/2018/hyperlinkcolor" val="tx"/>
                    </a:ext>
                  </a:extLst>
                </a:hlinkClick>
              </a:rPr>
              <a:t>[33]</a:t>
            </a:r>
            <a:r>
              <a:rPr lang="en-US" sz="600" u="sng" dirty="0">
                <a:solidFill>
                  <a:srgbClr val="003087"/>
                </a:solidFill>
                <a:hlinkClick r:id="rId10"/>
              </a:rPr>
              <a:t>[34]</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oai/share/f457ea5e-269b-41c5-afab-8ddb2ef06904.pn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p:spPr>
        <p:txBody>
          <a:bodyPr/>
          <a:lstStyle/>
          <a:p>
            <a:endParaRPr/>
          </a:p>
        </p:txBody>
      </p:sp>
      <p:sp>
        <p:nvSpPr>
          <p:cNvPr id="4" name="Text 1"/>
          <p:cNvSpPr/>
          <p:nvPr/>
        </p:nvSpPr>
        <p:spPr>
          <a:xfrm>
            <a:off x="457200" y="548640"/>
            <a:ext cx="8229600" cy="640080"/>
          </a:xfrm>
          <a:prstGeom prst="rect">
            <a:avLst/>
          </a:prstGeom>
          <a:noFill/>
          <a:ln/>
        </p:spPr>
        <p:txBody>
          <a:bodyPr wrap="square" rtlCol="0" anchor="ctr"/>
          <a:lstStyle/>
          <a:p>
            <a:pPr marL="0" indent="0">
              <a:buNone/>
            </a:pPr>
            <a:r>
              <a:rPr lang="en-US" sz="2400" b="1" dirty="0">
                <a:solidFill>
                  <a:srgbClr val="FFFFFF"/>
                </a:solidFill>
              </a:rPr>
              <a:t>Conclusion &amp; Next Steps</a:t>
            </a:r>
            <a:endParaRPr lang="en-US" sz="2400" dirty="0"/>
          </a:p>
        </p:txBody>
      </p:sp>
      <p:sp>
        <p:nvSpPr>
          <p:cNvPr id="5" name="Shape 2"/>
          <p:cNvSpPr/>
          <p:nvPr/>
        </p:nvSpPr>
        <p:spPr>
          <a:xfrm>
            <a:off x="548640" y="1828800"/>
            <a:ext cx="320040" cy="320040"/>
          </a:xfrm>
          <a:prstGeom prst="ellipse">
            <a:avLst/>
          </a:prstGeom>
          <a:solidFill>
            <a:srgbClr val="E10098"/>
          </a:solidFill>
          <a:ln w="12700">
            <a:solidFill>
              <a:srgbClr val="E10098"/>
            </a:solidFill>
            <a:prstDash val="solid"/>
          </a:ln>
        </p:spPr>
        <p:txBody>
          <a:bodyPr/>
          <a:lstStyle/>
          <a:p>
            <a:endParaRPr/>
          </a:p>
        </p:txBody>
      </p:sp>
      <p:pic>
        <p:nvPicPr>
          <p:cNvPr id="6" name="Image 1" descr="preencoded.png"/>
          <p:cNvPicPr>
            <a:picLocks noChangeAspect="1"/>
          </p:cNvPicPr>
          <p:nvPr/>
        </p:nvPicPr>
        <p:blipFill>
          <a:blip r:embed="rId4"/>
          <a:stretch>
            <a:fillRect/>
          </a:stretch>
        </p:blipFill>
        <p:spPr>
          <a:xfrm>
            <a:off x="594360" y="1874520"/>
            <a:ext cx="228600" cy="228600"/>
          </a:xfrm>
          <a:prstGeom prst="rect">
            <a:avLst/>
          </a:prstGeom>
        </p:spPr>
      </p:pic>
      <p:sp>
        <p:nvSpPr>
          <p:cNvPr id="7" name="Text 3"/>
          <p:cNvSpPr/>
          <p:nvPr/>
        </p:nvSpPr>
        <p:spPr>
          <a:xfrm>
            <a:off x="1005840" y="1828800"/>
            <a:ext cx="7772400" cy="320040"/>
          </a:xfrm>
          <a:prstGeom prst="rect">
            <a:avLst/>
          </a:prstGeom>
          <a:noFill/>
          <a:ln/>
        </p:spPr>
        <p:txBody>
          <a:bodyPr wrap="square" rtlCol="0" anchor="ctr"/>
          <a:lstStyle/>
          <a:p>
            <a:pPr marL="0" indent="0">
              <a:buNone/>
            </a:pPr>
            <a:r>
              <a:rPr lang="en-US" sz="1200" dirty="0">
                <a:solidFill>
                  <a:srgbClr val="FFFFFF"/>
                </a:solidFill>
              </a:rPr>
              <a:t>Reduce network calls: fetch exactly what you need in one request</a:t>
            </a:r>
            <a:endParaRPr lang="en-US" sz="1200" dirty="0"/>
          </a:p>
        </p:txBody>
      </p:sp>
      <p:sp>
        <p:nvSpPr>
          <p:cNvPr id="8" name="Shape 4"/>
          <p:cNvSpPr/>
          <p:nvPr/>
        </p:nvSpPr>
        <p:spPr>
          <a:xfrm>
            <a:off x="548640" y="2377440"/>
            <a:ext cx="320040" cy="320040"/>
          </a:xfrm>
          <a:prstGeom prst="ellipse">
            <a:avLst/>
          </a:prstGeom>
          <a:solidFill>
            <a:srgbClr val="0070BA"/>
          </a:solidFill>
          <a:ln w="12700">
            <a:solidFill>
              <a:srgbClr val="0070BA"/>
            </a:solidFill>
            <a:prstDash val="solid"/>
          </a:ln>
        </p:spPr>
        <p:txBody>
          <a:bodyPr/>
          <a:lstStyle/>
          <a:p>
            <a:endParaRPr/>
          </a:p>
        </p:txBody>
      </p:sp>
      <p:pic>
        <p:nvPicPr>
          <p:cNvPr id="9" name="Image 2" descr="preencoded.png"/>
          <p:cNvPicPr>
            <a:picLocks noChangeAspect="1"/>
          </p:cNvPicPr>
          <p:nvPr/>
        </p:nvPicPr>
        <p:blipFill>
          <a:blip r:embed="rId4"/>
          <a:stretch>
            <a:fillRect/>
          </a:stretch>
        </p:blipFill>
        <p:spPr>
          <a:xfrm>
            <a:off x="594360" y="2423160"/>
            <a:ext cx="228600" cy="228600"/>
          </a:xfrm>
          <a:prstGeom prst="rect">
            <a:avLst/>
          </a:prstGeom>
        </p:spPr>
      </p:pic>
      <p:sp>
        <p:nvSpPr>
          <p:cNvPr id="10" name="Text 5"/>
          <p:cNvSpPr/>
          <p:nvPr/>
        </p:nvSpPr>
        <p:spPr>
          <a:xfrm>
            <a:off x="1005840" y="2377440"/>
            <a:ext cx="7772400" cy="320040"/>
          </a:xfrm>
          <a:prstGeom prst="rect">
            <a:avLst/>
          </a:prstGeom>
          <a:noFill/>
          <a:ln/>
        </p:spPr>
        <p:txBody>
          <a:bodyPr wrap="square" rtlCol="0" anchor="ctr"/>
          <a:lstStyle/>
          <a:p>
            <a:pPr marL="0" indent="0">
              <a:buNone/>
            </a:pPr>
            <a:r>
              <a:rPr lang="en-US" sz="1200" dirty="0">
                <a:solidFill>
                  <a:srgbClr val="FFFFFF"/>
                </a:solidFill>
              </a:rPr>
              <a:t>Strongly typed schema &amp; introspection provide predictability</a:t>
            </a:r>
            <a:endParaRPr lang="en-US" sz="1200" dirty="0"/>
          </a:p>
        </p:txBody>
      </p:sp>
      <p:sp>
        <p:nvSpPr>
          <p:cNvPr id="11" name="Shape 6"/>
          <p:cNvSpPr/>
          <p:nvPr/>
        </p:nvSpPr>
        <p:spPr>
          <a:xfrm>
            <a:off x="548640" y="2926080"/>
            <a:ext cx="320040" cy="320040"/>
          </a:xfrm>
          <a:prstGeom prst="ellipse">
            <a:avLst/>
          </a:prstGeom>
          <a:solidFill>
            <a:srgbClr val="6937FF"/>
          </a:solidFill>
          <a:ln w="12700">
            <a:solidFill>
              <a:srgbClr val="6937FF"/>
            </a:solidFill>
            <a:prstDash val="solid"/>
          </a:ln>
        </p:spPr>
        <p:txBody>
          <a:bodyPr/>
          <a:lstStyle/>
          <a:p>
            <a:endParaRPr/>
          </a:p>
        </p:txBody>
      </p:sp>
      <p:pic>
        <p:nvPicPr>
          <p:cNvPr id="12" name="Image 3" descr="preencoded.png"/>
          <p:cNvPicPr>
            <a:picLocks noChangeAspect="1"/>
          </p:cNvPicPr>
          <p:nvPr/>
        </p:nvPicPr>
        <p:blipFill>
          <a:blip r:embed="rId4"/>
          <a:stretch>
            <a:fillRect/>
          </a:stretch>
        </p:blipFill>
        <p:spPr>
          <a:xfrm>
            <a:off x="594360" y="2971800"/>
            <a:ext cx="228600" cy="228600"/>
          </a:xfrm>
          <a:prstGeom prst="rect">
            <a:avLst/>
          </a:prstGeom>
        </p:spPr>
      </p:pic>
      <p:sp>
        <p:nvSpPr>
          <p:cNvPr id="13" name="Text 7"/>
          <p:cNvSpPr/>
          <p:nvPr/>
        </p:nvSpPr>
        <p:spPr>
          <a:xfrm>
            <a:off x="1005840" y="2926080"/>
            <a:ext cx="7772400" cy="320040"/>
          </a:xfrm>
          <a:prstGeom prst="rect">
            <a:avLst/>
          </a:prstGeom>
          <a:noFill/>
          <a:ln/>
        </p:spPr>
        <p:txBody>
          <a:bodyPr wrap="square" rtlCol="0" anchor="ctr"/>
          <a:lstStyle/>
          <a:p>
            <a:pPr marL="0" indent="0">
              <a:buNone/>
            </a:pPr>
            <a:r>
              <a:rPr lang="en-US" sz="1200" dirty="0">
                <a:solidFill>
                  <a:srgbClr val="FFFFFF"/>
                </a:solidFill>
              </a:rPr>
              <a:t>Start building: explore the API Explorer and integrate GraphQL</a:t>
            </a:r>
            <a:endParaRPr lang="en-US" sz="1200" dirty="0"/>
          </a:p>
        </p:txBody>
      </p:sp>
      <p:sp>
        <p:nvSpPr>
          <p:cNvPr id="14" name="Text 8"/>
          <p:cNvSpPr/>
          <p:nvPr/>
        </p:nvSpPr>
        <p:spPr>
          <a:xfrm>
            <a:off x="457200" y="4114800"/>
            <a:ext cx="8229600" cy="640080"/>
          </a:xfrm>
          <a:prstGeom prst="rect">
            <a:avLst/>
          </a:prstGeom>
          <a:noFill/>
          <a:ln/>
        </p:spPr>
        <p:txBody>
          <a:bodyPr wrap="square" rtlCol="0" anchor="ctr"/>
          <a:lstStyle/>
          <a:p>
            <a:pPr marL="0" indent="0" algn="l">
              <a:buNone/>
            </a:pPr>
            <a:r>
              <a:rPr lang="en-US" sz="1600" b="1" dirty="0">
                <a:solidFill>
                  <a:srgbClr val="00B0F0"/>
                </a:solidFill>
              </a:rPr>
              <a:t>Thank you!</a:t>
            </a:r>
            <a:endParaRPr lang="en-US" sz="1600" dirty="0"/>
          </a:p>
          <a:p>
            <a:pPr marL="0" indent="0" algn="l">
              <a:buNone/>
            </a:pPr>
            <a:r>
              <a:rPr lang="en-US" sz="1600" b="1" dirty="0">
                <a:solidFill>
                  <a:srgbClr val="00B0F0"/>
                </a:solidFill>
              </a:rPr>
              <a:t>Questions?</a:t>
            </a:r>
            <a:endParaRPr lang="en-US" sz="1600" dirty="0"/>
          </a:p>
        </p:txBody>
      </p:sp>
      <p:sp>
        <p:nvSpPr>
          <p:cNvPr id="15" name="Text 9"/>
          <p:cNvSpPr/>
          <p:nvPr/>
        </p:nvSpPr>
        <p:spPr>
          <a:xfrm>
            <a:off x="274320" y="4823460"/>
            <a:ext cx="8595360" cy="274320"/>
          </a:xfrm>
          <a:prstGeom prst="rect">
            <a:avLst/>
          </a:prstGeom>
          <a:noFill/>
          <a:ln/>
        </p:spPr>
        <p:txBody>
          <a:bodyPr wrap="square" lIns="0" tIns="0" rIns="0" bIns="0" rtlCol="0" anchor="ctr"/>
          <a:lstStyle/>
          <a:p>
            <a:pPr marL="0" indent="0">
              <a:buNone/>
            </a:pPr>
            <a:r>
              <a:rPr lang="en-US" sz="600" u="sng" dirty="0">
                <a:solidFill>
                  <a:srgbClr val="00B0F0"/>
                </a:solidFill>
                <a:hlinkClick r:id="rId5"/>
              </a:rPr>
              <a:t>[1]</a:t>
            </a:r>
            <a:r>
              <a:rPr lang="en-US" sz="600" dirty="0">
                <a:solidFill>
                  <a:srgbClr val="000000"/>
                </a:solidFill>
              </a:rPr>
              <a:t>   </a:t>
            </a:r>
            <a:r>
              <a:rPr lang="en-US" sz="600" u="sng" dirty="0">
                <a:solidFill>
                  <a:srgbClr val="00B0F0"/>
                </a:solidFill>
                <a:hlinkClick r:id="rId6"/>
              </a:rPr>
              <a:t>[2]</a:t>
            </a:r>
            <a:r>
              <a:rPr lang="en-US" sz="600" dirty="0">
                <a:solidFill>
                  <a:srgbClr val="000000"/>
                </a:solidFill>
              </a:rPr>
              <a:t>   </a:t>
            </a:r>
            <a:r>
              <a:rPr lang="en-US" sz="600" u="sng" dirty="0">
                <a:solidFill>
                  <a:srgbClr val="00B0F0"/>
                </a:solidFill>
                <a:hlinkClick r:id="rId7"/>
              </a:rPr>
              <a:t>[3]</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home/oai/share/background_content.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15000"/>
            </a:srgbClr>
          </a:solidFill>
          <a:ln w="12700">
            <a:solidFill>
              <a:srgbClr val="000000"/>
            </a:solidFill>
            <a:prstDash val="solid"/>
          </a:ln>
        </p:spPr>
        <p:txBody>
          <a:bodyPr/>
          <a:lstStyle/>
          <a:p>
            <a:endParaRPr/>
          </a:p>
        </p:txBody>
      </p:sp>
      <p:sp>
        <p:nvSpPr>
          <p:cNvPr id="4" name="Text 1"/>
          <p:cNvSpPr/>
          <p:nvPr/>
        </p:nvSpPr>
        <p:spPr>
          <a:xfrm>
            <a:off x="457200" y="274320"/>
            <a:ext cx="8686800" cy="548640"/>
          </a:xfrm>
          <a:prstGeom prst="rect">
            <a:avLst/>
          </a:prstGeom>
          <a:noFill/>
          <a:ln/>
        </p:spPr>
        <p:txBody>
          <a:bodyPr wrap="square" rtlCol="0" anchor="ctr"/>
          <a:lstStyle/>
          <a:p>
            <a:pPr marL="0" indent="0">
              <a:buNone/>
            </a:pPr>
            <a:r>
              <a:rPr lang="en-US" sz="2600" b="1" dirty="0">
                <a:solidFill>
                  <a:srgbClr val="E10098"/>
                </a:solidFill>
              </a:rPr>
              <a:t>Conclusion &amp; Next Steps</a:t>
            </a:r>
            <a:endParaRPr lang="en-US" sz="2600" dirty="0"/>
          </a:p>
        </p:txBody>
      </p:sp>
      <p:sp>
        <p:nvSpPr>
          <p:cNvPr id="5" name="Text 2"/>
          <p:cNvSpPr/>
          <p:nvPr/>
        </p:nvSpPr>
        <p:spPr>
          <a:xfrm>
            <a:off x="640080" y="1005840"/>
            <a:ext cx="8321040" cy="3291840"/>
          </a:xfrm>
          <a:prstGeom prst="rect">
            <a:avLst/>
          </a:prstGeom>
          <a:noFill/>
          <a:ln/>
        </p:spPr>
        <p:txBody>
          <a:bodyPr wrap="square" rtlCol="0" anchor="ctr"/>
          <a:lstStyle/>
          <a:p>
            <a:pPr marL="0" indent="0">
              <a:buNone/>
            </a:pPr>
            <a:r>
              <a:rPr lang="en-US" sz="1200" b="1" dirty="0">
                <a:solidFill>
                  <a:srgbClr val="003087"/>
                </a:solidFill>
              </a:rPr>
              <a:t>• Embrace GraphQL’s flexibility:
</a:t>
            </a:r>
            <a:r>
              <a:rPr lang="en-US" sz="1000" dirty="0">
                <a:solidFill>
                  <a:srgbClr val="F5F5F5"/>
                </a:solidFill>
              </a:rPr>
              <a:t>  Single endpoint, typed schema, precise data fetching and batching operations.
</a:t>
            </a:r>
            <a:r>
              <a:rPr lang="en-US" sz="1200" b="1" dirty="0">
                <a:solidFill>
                  <a:srgbClr val="003087"/>
                </a:solidFill>
              </a:rPr>
              <a:t>• Understand Braintree concepts:
</a:t>
            </a:r>
            <a:r>
              <a:rPr lang="en-US" sz="1000" dirty="0">
                <a:solidFill>
                  <a:srgbClr val="F5F5F5"/>
                </a:solidFill>
              </a:rPr>
              <a:t>  payment methods, customers, vaulting and transactions.
</a:t>
            </a:r>
            <a:r>
              <a:rPr lang="en-US" sz="1200" b="1" dirty="0">
                <a:solidFill>
                  <a:srgbClr val="003087"/>
                </a:solidFill>
              </a:rPr>
              <a:t>• Securely authenticate:
</a:t>
            </a:r>
            <a:r>
              <a:rPr lang="en-US" sz="1000" dirty="0">
                <a:solidFill>
                  <a:srgbClr val="F5F5F5"/>
                </a:solidFill>
              </a:rPr>
              <a:t>  choose the right credential and send correct headers.
</a:t>
            </a:r>
            <a:r>
              <a:rPr lang="en-US" sz="1200" b="1" dirty="0">
                <a:solidFill>
                  <a:srgbClr val="003087"/>
                </a:solidFill>
              </a:rPr>
              <a:t>• Build robust clients:
</a:t>
            </a:r>
            <a:r>
              <a:rPr lang="en-US" sz="1000" dirty="0">
                <a:solidFill>
                  <a:srgbClr val="F5F5F5"/>
                </a:solidFill>
              </a:rPr>
              <a:t>  structure requests &amp; handle responses gracefully, paying attention to errors and timeouts</a:t>
            </a:r>
            <a:r>
              <a:rPr sz="1000" u="sng">
                <a:solidFill>
                  <a:schemeClr val="accent6"/>
                </a:solidFill>
                <a:hlinkClick r:id="rId4"/>
              </a:rPr>
              <a:t>(developer.paypal.com)</a:t>
            </a:r>
            <a:r>
              <a:t>.
</a:t>
            </a:r>
            <a:r>
              <a:rPr lang="en-US" sz="1200" b="1" dirty="0">
                <a:solidFill>
                  <a:srgbClr val="003087"/>
                </a:solidFill>
              </a:rPr>
              <a:t>• Explore &amp; experiment:
</a:t>
            </a:r>
            <a:r>
              <a:rPr lang="en-US" sz="1000" dirty="0">
                <a:solidFill>
                  <a:srgbClr val="F5F5F5"/>
                </a:solidFill>
              </a:rPr>
              <a:t>  use the sandbox, API Explorer and introspection queries to learn and iterate quickly.</a:t>
            </a:r>
            <a:endParaRPr lang="en-US" sz="1200" dirty="0"/>
          </a:p>
        </p:txBody>
      </p:sp>
      <p:sp>
        <p:nvSpPr>
          <p:cNvPr id="6" name="Text 3"/>
          <p:cNvSpPr/>
          <p:nvPr/>
        </p:nvSpPr>
        <p:spPr>
          <a:xfrm>
            <a:off x="457200" y="4823460"/>
            <a:ext cx="8229600" cy="274320"/>
          </a:xfrm>
          <a:prstGeom prst="rect">
            <a:avLst/>
          </a:prstGeom>
          <a:noFill/>
          <a:ln/>
        </p:spPr>
        <p:txBody>
          <a:bodyPr wrap="square" lIns="0" tIns="0" rIns="0" bIns="0" rtlCol="0" anchor="ctr"/>
          <a:lstStyle/>
          <a:p>
            <a:pPr marL="0" indent="0">
              <a:buNone/>
            </a:pPr>
            <a:r>
              <a:rPr lang="en-US" sz="600" u="sng" dirty="0">
                <a:solidFill>
                  <a:srgbClr val="003087"/>
                </a:solidFill>
                <a:hlinkClick r:id="rId5">
                  <a:extLst>
                    <a:ext uri="{A12FA001-AC4F-418D-AE19-62706E023703}">
                      <ahyp:hlinkClr xmlns:ahyp="http://schemas.microsoft.com/office/drawing/2018/hyperlinkcolor" val="tx"/>
                    </a:ext>
                  </a:extLst>
                </a:hlinkClick>
              </a:rPr>
              <a:t>[35]</a:t>
            </a:r>
            <a:r>
              <a:rPr lang="en-US" sz="600" u="sng" dirty="0">
                <a:solidFill>
                  <a:srgbClr val="003087"/>
                </a:solidFill>
                <a:hlinkClick r:id="rId6">
                  <a:extLst>
                    <a:ext uri="{A12FA001-AC4F-418D-AE19-62706E023703}">
                      <ahyp:hlinkClr xmlns:ahyp="http://schemas.microsoft.com/office/drawing/2018/hyperlinkcolor" val="tx"/>
                    </a:ext>
                  </a:extLst>
                </a:hlinkClick>
              </a:rPr>
              <a:t>[36]</a:t>
            </a:r>
            <a:r>
              <a:rPr lang="en-US" sz="600" u="sng" dirty="0">
                <a:solidFill>
                  <a:srgbClr val="003087"/>
                </a:solidFill>
                <a:hlinkClick r:id="rId7">
                  <a:extLst>
                    <a:ext uri="{A12FA001-AC4F-418D-AE19-62706E023703}">
                      <ahyp:hlinkClr xmlns:ahyp="http://schemas.microsoft.com/office/drawing/2018/hyperlinkcolor" val="tx"/>
                    </a:ext>
                  </a:extLst>
                </a:hlinkClick>
              </a:rPr>
              <a:t>[37]</a:t>
            </a:r>
            <a:r>
              <a:rPr lang="en-US" sz="600" u="sng" dirty="0">
                <a:solidFill>
                  <a:srgbClr val="003087"/>
                </a:solidFill>
                <a:hlinkClick r:id="rId4"/>
              </a:rPr>
              <a:t>[38]</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TotalTime>
  <Words>3775</Words>
  <Application>Microsoft Macintosh PowerPoint</Application>
  <PresentationFormat>On-screen Show (16:9)</PresentationFormat>
  <Paragraphs>183</Paragraphs>
  <Slides>17</Slides>
  <Notes>17</Notes>
  <HiddenSlides>6</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Jasmyn Kelly</cp:lastModifiedBy>
  <cp:revision>5</cp:revision>
  <dcterms:created xsi:type="dcterms:W3CDTF">2025-08-04T23:23:43Z</dcterms:created>
  <dcterms:modified xsi:type="dcterms:W3CDTF">2025-08-05T05:25:13Z</dcterms:modified>
</cp:coreProperties>
</file>